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6" r:id="rId5"/>
    <p:sldId id="262" r:id="rId6"/>
    <p:sldId id="259" r:id="rId7"/>
    <p:sldId id="260" r:id="rId8"/>
    <p:sldId id="270" r:id="rId9"/>
    <p:sldId id="261" r:id="rId10"/>
    <p:sldId id="265"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4B5B"/>
    <a:srgbClr val="F2F2F2"/>
    <a:srgbClr val="FFF8EC"/>
    <a:srgbClr val="FDB116"/>
    <a:srgbClr val="FEB100"/>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F7C6D8-AB1A-B84F-B8DF-C72A6A08CEB0}" v="16" dt="2026-07-08T00:53:41.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92"/>
    <p:restoredTop sz="78471"/>
  </p:normalViewPr>
  <p:slideViewPr>
    <p:cSldViewPr snapToGrid="0">
      <p:cViewPr>
        <p:scale>
          <a:sx n="76" d="100"/>
          <a:sy n="76" d="100"/>
        </p:scale>
        <p:origin x="680"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31CDC69-AAF2-4FCF-95C7-37D9CF5C7E1E}" type="datetimeFigureOut">
              <a:t>7/7/26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2F7B0F0-5A1F-4682-8376-BA9FD55650E5}" type="slidenum">
              <a:t>‹#›</a:t>
            </a:fld>
            <a:endParaRPr lang="en-US"/>
          </a:p>
        </p:txBody>
      </p:sp>
    </p:spTree>
    <p:extLst>
      <p:ext uri="{BB962C8B-B14F-4D97-AF65-F5344CB8AC3E}">
        <p14:creationId xmlns:p14="http://schemas.microsoft.com/office/powerpoint/2010/main" val="452766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single most important idea. The page is not the engine, people 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Make this personal and flattering, because it's true.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Links-in-comments is the rule people break most.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Posting is never a writing assignment. Carlie's team packages everything.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Removes the fear of becoming a LinkedIn personality.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they only do #1, the program still works.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Comments, not likes. Social pings the team channel when something goes live.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field-grounded. A rep's own partner shoutout is genuine channel development, the same relationship work Darryl runs formally, not just a content template. Tagging the partner gets us reshared into their network too.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concrete action today: comment on the next post.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4B5B"/>
        </a:solidFill>
        <a:effectLst/>
      </p:bgPr>
    </p:bg>
    <p:spTree>
      <p:nvGrpSpPr>
        <p:cNvPr id="1" name=""/>
        <p:cNvGrpSpPr/>
        <p:nvPr/>
      </p:nvGrpSpPr>
      <p:grpSpPr>
        <a:xfrm>
          <a:off x="0" y="0"/>
          <a:ext cx="0" cy="0"/>
          <a:chOff x="0" y="0"/>
          <a:chExt cx="0" cy="0"/>
        </a:xfrm>
      </p:grpSpPr>
      <p:pic>
        <p:nvPicPr>
          <p:cNvPr id="2" name="Image 0" descr="tag_white.png"/>
          <p:cNvPicPr>
            <a:picLocks noChangeAspect="1"/>
          </p:cNvPicPr>
          <p:nvPr/>
        </p:nvPicPr>
        <p:blipFill>
          <a:blip r:embed="rId3"/>
          <a:stretch>
            <a:fillRect/>
          </a:stretch>
        </p:blipFill>
        <p:spPr>
          <a:xfrm>
            <a:off x="640080" y="566928"/>
            <a:ext cx="4472606" cy="987552"/>
          </a:xfrm>
          <a:prstGeom prst="rect">
            <a:avLst/>
          </a:prstGeom>
        </p:spPr>
      </p:pic>
      <p:sp>
        <p:nvSpPr>
          <p:cNvPr id="3" name="Text 0"/>
          <p:cNvSpPr/>
          <p:nvPr/>
        </p:nvSpPr>
        <p:spPr>
          <a:xfrm>
            <a:off x="640080" y="4114800"/>
            <a:ext cx="10058400" cy="365760"/>
          </a:xfrm>
          <a:prstGeom prst="rect">
            <a:avLst/>
          </a:prstGeom>
          <a:noFill/>
          <a:ln/>
        </p:spPr>
        <p:txBody>
          <a:bodyPr wrap="square" lIns="0" tIns="0" rIns="0" bIns="0" rtlCol="0" anchor="ctr"/>
          <a:lstStyle/>
          <a:p>
            <a:endParaRPr lang="en-US" sz="1500" kern="0" spc="100" dirty="0">
              <a:latin typeface="Aptos Light" panose="020B0004020202020204" pitchFamily="34" charset="0"/>
            </a:endParaRPr>
          </a:p>
        </p:txBody>
      </p:sp>
      <p:sp>
        <p:nvSpPr>
          <p:cNvPr id="4" name="Text 1"/>
          <p:cNvSpPr/>
          <p:nvPr/>
        </p:nvSpPr>
        <p:spPr>
          <a:xfrm>
            <a:off x="640080" y="2743200"/>
            <a:ext cx="10789920" cy="1737360"/>
          </a:xfrm>
          <a:prstGeom prst="rect">
            <a:avLst/>
          </a:prstGeom>
          <a:noFill/>
          <a:ln/>
        </p:spPr>
        <p:txBody>
          <a:bodyPr wrap="square" lIns="0" tIns="0" rIns="0" bIns="0" rtlCol="0" anchor="t"/>
          <a:lstStyle/>
          <a:p>
            <a:pPr marL="0" indent="0">
              <a:lnSpc>
                <a:spcPct val="100000"/>
              </a:lnSpc>
              <a:buNone/>
            </a:pPr>
            <a:r>
              <a:rPr lang="en-US" sz="4200" b="1" dirty="0">
                <a:solidFill>
                  <a:srgbClr val="FFFFFF"/>
                </a:solidFill>
                <a:latin typeface="Aptos" pitchFamily="34" charset="0"/>
                <a:ea typeface="Aptos" pitchFamily="34" charset="-122"/>
                <a:cs typeface="Aptos" pitchFamily="34" charset="-120"/>
              </a:rPr>
              <a:t>Trusscore LinkedIn</a:t>
            </a:r>
            <a:r>
              <a:rPr lang="en-US" sz="4200" dirty="0"/>
              <a:t> </a:t>
            </a:r>
            <a:r>
              <a:rPr lang="en-US" sz="4200" b="1" dirty="0">
                <a:solidFill>
                  <a:srgbClr val="FEB100"/>
                </a:solidFill>
                <a:latin typeface="Aptos" pitchFamily="34" charset="0"/>
                <a:ea typeface="Aptos" pitchFamily="34" charset="-122"/>
                <a:cs typeface="Aptos" pitchFamily="34" charset="-120"/>
              </a:rPr>
              <a:t>Playbook</a:t>
            </a:r>
          </a:p>
          <a:p>
            <a:r>
              <a:rPr lang="en-US" sz="2800" b="1" dirty="0">
                <a:solidFill>
                  <a:schemeClr val="accent4"/>
                </a:solidFill>
                <a:latin typeface="Aptos" pitchFamily="34" charset="0"/>
                <a:ea typeface="Aptos" pitchFamily="34" charset="-122"/>
                <a:cs typeface="Aptos" pitchFamily="34" charset="-120"/>
              </a:rPr>
              <a:t>/ </a:t>
            </a:r>
            <a:r>
              <a:rPr lang="en-US" sz="2800" b="1" dirty="0">
                <a:solidFill>
                  <a:schemeClr val="bg1"/>
                </a:solidFill>
                <a:latin typeface="Aptos" pitchFamily="34" charset="0"/>
                <a:ea typeface="Aptos" pitchFamily="34" charset="-122"/>
                <a:cs typeface="Aptos" pitchFamily="34" charset="-120"/>
              </a:rPr>
              <a:t>Individual Voices vs Company Voice</a:t>
            </a:r>
            <a:endParaRPr lang="en-US" sz="2800" dirty="0"/>
          </a:p>
        </p:txBody>
      </p:sp>
      <p:sp>
        <p:nvSpPr>
          <p:cNvPr id="5" name="Text 2"/>
          <p:cNvSpPr/>
          <p:nvPr/>
        </p:nvSpPr>
        <p:spPr>
          <a:xfrm>
            <a:off x="640080" y="4617720"/>
            <a:ext cx="10058400" cy="457200"/>
          </a:xfrm>
          <a:prstGeom prst="rect">
            <a:avLst/>
          </a:prstGeom>
          <a:noFill/>
          <a:ln/>
        </p:spPr>
        <p:txBody>
          <a:bodyPr wrap="square" lIns="0" tIns="0" rIns="0" bIns="0" rtlCol="0" anchor="ctr"/>
          <a:lstStyle/>
          <a:p>
            <a:pPr marL="0" indent="0">
              <a:buNone/>
            </a:pPr>
            <a:r>
              <a:rPr lang="en-US" sz="1900" dirty="0">
                <a:solidFill>
                  <a:srgbClr val="DDE3E8"/>
                </a:solidFill>
                <a:latin typeface="Aptos"/>
                <a:ea typeface="Aptos" pitchFamily="34" charset="-122"/>
                <a:cs typeface="Aptos" pitchFamily="34" charset="-120"/>
              </a:rPr>
              <a:t>LinkedIn, and the few minutes a week that actually move it</a:t>
            </a:r>
            <a:endParaRPr lang="en-US" sz="1900" dirty="0">
              <a:latin typeface="Aptos"/>
            </a:endParaRPr>
          </a:p>
        </p:txBody>
      </p:sp>
      <p:sp>
        <p:nvSpPr>
          <p:cNvPr id="6" name="Text 3"/>
          <p:cNvSpPr/>
          <p:nvPr/>
        </p:nvSpPr>
        <p:spPr>
          <a:xfrm>
            <a:off x="640080" y="6144768"/>
            <a:ext cx="7315200" cy="365760"/>
          </a:xfrm>
          <a:prstGeom prst="rect">
            <a:avLst/>
          </a:prstGeom>
          <a:noFill/>
          <a:ln/>
        </p:spPr>
        <p:txBody>
          <a:bodyPr wrap="square" lIns="0" tIns="0" rIns="0" bIns="0" rtlCol="0" anchor="ctr"/>
          <a:lstStyle/>
          <a:p>
            <a:pPr marL="0" indent="0">
              <a:buNone/>
            </a:pPr>
            <a:r>
              <a:rPr lang="en-US" sz="1200">
                <a:solidFill>
                  <a:srgbClr val="9AA7B2"/>
                </a:solidFill>
                <a:latin typeface="Aptos" pitchFamily="34" charset="0"/>
                <a:ea typeface="Aptos" pitchFamily="34" charset="-122"/>
                <a:cs typeface="Aptos" pitchFamily="34" charset="-120"/>
              </a:rPr>
              <a:t>Material Science for Building Materials</a:t>
            </a:r>
            <a:endParaRPr lang="en-US" sz="1200"/>
          </a:p>
        </p:txBody>
      </p:sp>
      <p:pic>
        <p:nvPicPr>
          <p:cNvPr id="7" name="Image 1" descr="mono_white.png"/>
          <p:cNvPicPr>
            <a:picLocks noChangeAspect="1"/>
          </p:cNvPicPr>
          <p:nvPr/>
        </p:nvPicPr>
        <p:blipFill>
          <a:blip r:embed="rId4"/>
          <a:stretch>
            <a:fillRect/>
          </a:stretch>
        </p:blipFill>
        <p:spPr>
          <a:xfrm>
            <a:off x="10454640" y="5524042"/>
            <a:ext cx="1096975" cy="8683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000" dirty="0">
                <a:solidFill>
                  <a:srgbClr val="3A4B5B"/>
                </a:solidFill>
                <a:latin typeface="Aptos Light" pitchFamily="34" charset="0"/>
                <a:ea typeface="Aptos Light" pitchFamily="34" charset="-122"/>
                <a:cs typeface="Aptos Light" pitchFamily="34" charset="-120"/>
              </a:rPr>
              <a:t>On LinkedIn, Brands Don't Get Reach, </a:t>
            </a:r>
            <a:r>
              <a:rPr lang="en-US" sz="4000" i="1" dirty="0">
                <a:solidFill>
                  <a:srgbClr val="3A4B5B"/>
                </a:solidFill>
                <a:latin typeface="Aptos Light" pitchFamily="34" charset="0"/>
                <a:ea typeface="Aptos Light" pitchFamily="34" charset="-122"/>
                <a:cs typeface="Aptos Light" pitchFamily="34" charset="-120"/>
              </a:rPr>
              <a:t>People Do</a:t>
            </a:r>
            <a:endParaRPr lang="en-US" sz="4000" i="1" dirty="0"/>
          </a:p>
        </p:txBody>
      </p:sp>
      <p:sp>
        <p:nvSpPr>
          <p:cNvPr id="3" name="Text 1"/>
          <p:cNvSpPr/>
          <p:nvPr/>
        </p:nvSpPr>
        <p:spPr>
          <a:xfrm>
            <a:off x="717570" y="2178415"/>
            <a:ext cx="10972800" cy="365760"/>
          </a:xfrm>
          <a:prstGeom prst="rect">
            <a:avLst/>
          </a:prstGeom>
          <a:noFill/>
          <a:ln/>
        </p:spPr>
        <p:txBody>
          <a:bodyPr wrap="square" lIns="0" tIns="0" rIns="0" bIns="0" rtlCol="0" anchor="ctr"/>
          <a:lstStyle/>
          <a:p>
            <a:pPr marL="0" indent="0" algn="ctr">
              <a:buNone/>
            </a:pPr>
            <a:r>
              <a:rPr lang="en-US" sz="2400" dirty="0">
                <a:solidFill>
                  <a:srgbClr val="3A4B5B"/>
                </a:solidFill>
                <a:latin typeface="Aptos" pitchFamily="34" charset="0"/>
                <a:ea typeface="Aptos" pitchFamily="34" charset="-122"/>
                <a:cs typeface="Aptos" pitchFamily="34" charset="-120"/>
              </a:rPr>
              <a:t>Where our reach actually comes from now:</a:t>
            </a:r>
            <a:endParaRPr lang="en-US" sz="2400" dirty="0">
              <a:solidFill>
                <a:srgbClr val="3A4B5B"/>
              </a:solidFill>
            </a:endParaRPr>
          </a:p>
        </p:txBody>
      </p:sp>
      <p:sp>
        <p:nvSpPr>
          <p:cNvPr id="4" name="Text 2"/>
          <p:cNvSpPr/>
          <p:nvPr/>
        </p:nvSpPr>
        <p:spPr>
          <a:xfrm>
            <a:off x="1349830" y="1305405"/>
            <a:ext cx="9929921" cy="640080"/>
          </a:xfrm>
          <a:prstGeom prst="rect">
            <a:avLst/>
          </a:prstGeom>
          <a:noFill/>
          <a:ln/>
        </p:spPr>
        <p:txBody>
          <a:bodyPr wrap="square" lIns="0" tIns="0" rIns="0" bIns="0" rtlCol="0" anchor="ctr"/>
          <a:lstStyle/>
          <a:p>
            <a:pPr marL="0" indent="0">
              <a:buNone/>
            </a:pPr>
            <a:r>
              <a:rPr lang="en-US" sz="2000" dirty="0">
                <a:solidFill>
                  <a:srgbClr val="222B33"/>
                </a:solidFill>
                <a:latin typeface="Aptos" pitchFamily="34" charset="0"/>
                <a:ea typeface="Aptos" pitchFamily="34" charset="-122"/>
                <a:cs typeface="Aptos" pitchFamily="34" charset="-120"/>
              </a:rPr>
              <a:t>LinkedIn stopped showing company pages to people, it shows people to people. </a:t>
            </a:r>
            <a:br>
              <a:rPr lang="en-US" sz="2000" dirty="0">
                <a:solidFill>
                  <a:srgbClr val="222B33"/>
                </a:solidFill>
                <a:latin typeface="Aptos" pitchFamily="34" charset="0"/>
                <a:ea typeface="Aptos" pitchFamily="34" charset="-122"/>
                <a:cs typeface="Aptos" pitchFamily="34" charset="-120"/>
              </a:rPr>
            </a:br>
            <a:r>
              <a:rPr lang="en-US" sz="2000" dirty="0">
                <a:solidFill>
                  <a:srgbClr val="222B33"/>
                </a:solidFill>
                <a:latin typeface="Aptos" pitchFamily="34" charset="0"/>
                <a:ea typeface="Aptos" pitchFamily="34" charset="-122"/>
                <a:cs typeface="Aptos" pitchFamily="34" charset="-120"/>
              </a:rPr>
              <a:t>So our reach now depends on real profiles, not the Trusscore account and logo.</a:t>
            </a:r>
            <a:endParaRPr lang="en-US" sz="2000" dirty="0"/>
          </a:p>
        </p:txBody>
      </p:sp>
      <p:sp>
        <p:nvSpPr>
          <p:cNvPr id="5" name="Shape 3"/>
          <p:cNvSpPr/>
          <p:nvPr/>
        </p:nvSpPr>
        <p:spPr>
          <a:xfrm>
            <a:off x="640080" y="2743200"/>
            <a:ext cx="5212080" cy="2606040"/>
          </a:xfrm>
          <a:prstGeom prst="roundRect">
            <a:avLst>
              <a:gd name="adj" fmla="val 2105"/>
            </a:avLst>
          </a:prstGeom>
          <a:solidFill>
            <a:srgbClr val="EEF1F3"/>
          </a:solidFill>
          <a:ln w="9525">
            <a:solidFill>
              <a:srgbClr val="E1E5E8"/>
            </a:solidFill>
            <a:prstDash val="solid"/>
          </a:ln>
          <a:effectLst/>
        </p:spPr>
        <p:txBody>
          <a:bodyPr/>
          <a:lstStyle/>
          <a:p>
            <a:endParaRPr lang="en-US"/>
          </a:p>
        </p:txBody>
      </p:sp>
      <p:sp>
        <p:nvSpPr>
          <p:cNvPr id="6" name="Text 4"/>
          <p:cNvSpPr/>
          <p:nvPr/>
        </p:nvSpPr>
        <p:spPr>
          <a:xfrm>
            <a:off x="640080" y="3208869"/>
            <a:ext cx="5212080" cy="1005840"/>
          </a:xfrm>
          <a:prstGeom prst="rect">
            <a:avLst/>
          </a:prstGeom>
          <a:noFill/>
          <a:ln/>
        </p:spPr>
        <p:txBody>
          <a:bodyPr wrap="square" lIns="0" tIns="0" rIns="0" bIns="0" rtlCol="0" anchor="ctr"/>
          <a:lstStyle/>
          <a:p>
            <a:pPr marL="0" indent="0" algn="ctr">
              <a:buNone/>
            </a:pPr>
            <a:r>
              <a:rPr lang="en-US" sz="8000" b="1" dirty="0">
                <a:solidFill>
                  <a:srgbClr val="3A4B5B"/>
                </a:solidFill>
                <a:latin typeface="Aptos" pitchFamily="34" charset="0"/>
                <a:ea typeface="Aptos" pitchFamily="34" charset="-122"/>
                <a:cs typeface="Aptos" pitchFamily="34" charset="-120"/>
              </a:rPr>
              <a:t>~5%</a:t>
            </a:r>
            <a:endParaRPr lang="en-US" sz="8000" dirty="0"/>
          </a:p>
        </p:txBody>
      </p:sp>
      <p:sp>
        <p:nvSpPr>
          <p:cNvPr id="7" name="Text 5"/>
          <p:cNvSpPr/>
          <p:nvPr/>
        </p:nvSpPr>
        <p:spPr>
          <a:xfrm>
            <a:off x="1005840" y="4069080"/>
            <a:ext cx="4480560" cy="822960"/>
          </a:xfrm>
          <a:prstGeom prst="rect">
            <a:avLst/>
          </a:prstGeom>
          <a:noFill/>
          <a:ln/>
        </p:spPr>
        <p:txBody>
          <a:bodyPr wrap="square" lIns="0" tIns="0" rIns="0" bIns="0" rtlCol="0" anchor="ctr"/>
          <a:lstStyle/>
          <a:p>
            <a:pPr marL="0" indent="0" algn="ctr">
              <a:buNone/>
            </a:pPr>
            <a:r>
              <a:rPr lang="en-US" sz="2000" b="1" dirty="0">
                <a:solidFill>
                  <a:srgbClr val="222B33"/>
                </a:solidFill>
                <a:latin typeface="Aptos SemiBold" panose="020B0004020202020204" pitchFamily="34" charset="0"/>
                <a:ea typeface="Aptos" pitchFamily="34" charset="-122"/>
                <a:cs typeface="Aptos" pitchFamily="34" charset="-120"/>
              </a:rPr>
              <a:t>of the feed goes to company pages</a:t>
            </a:r>
            <a:endParaRPr lang="en-US" sz="2000" b="1" dirty="0">
              <a:latin typeface="Aptos SemiBold" panose="020B0004020202020204" pitchFamily="34" charset="0"/>
            </a:endParaRPr>
          </a:p>
        </p:txBody>
      </p:sp>
      <p:sp>
        <p:nvSpPr>
          <p:cNvPr id="8" name="Shape 6"/>
          <p:cNvSpPr/>
          <p:nvPr/>
        </p:nvSpPr>
        <p:spPr>
          <a:xfrm>
            <a:off x="6309360" y="2743200"/>
            <a:ext cx="5212080" cy="2606040"/>
          </a:xfrm>
          <a:prstGeom prst="roundRect">
            <a:avLst>
              <a:gd name="adj" fmla="val 2105"/>
            </a:avLst>
          </a:prstGeom>
          <a:solidFill>
            <a:srgbClr val="3A4B5B"/>
          </a:solidFill>
          <a:ln w="9525">
            <a:solidFill>
              <a:srgbClr val="E1E5E8"/>
            </a:solidFill>
            <a:prstDash val="solid"/>
          </a:ln>
          <a:effectLst/>
        </p:spPr>
        <p:txBody>
          <a:bodyPr/>
          <a:lstStyle/>
          <a:p>
            <a:endParaRPr lang="en-US"/>
          </a:p>
        </p:txBody>
      </p:sp>
      <p:sp>
        <p:nvSpPr>
          <p:cNvPr id="9" name="Text 7"/>
          <p:cNvSpPr/>
          <p:nvPr/>
        </p:nvSpPr>
        <p:spPr>
          <a:xfrm>
            <a:off x="6309360" y="3208869"/>
            <a:ext cx="5212080" cy="1005840"/>
          </a:xfrm>
          <a:prstGeom prst="rect">
            <a:avLst/>
          </a:prstGeom>
          <a:noFill/>
          <a:ln/>
        </p:spPr>
        <p:txBody>
          <a:bodyPr wrap="square" lIns="0" tIns="0" rIns="0" bIns="0" rtlCol="0" anchor="ctr"/>
          <a:lstStyle/>
          <a:p>
            <a:pPr marL="0" indent="0" algn="ctr">
              <a:buNone/>
            </a:pPr>
            <a:r>
              <a:rPr lang="en-US" sz="8000" b="1" dirty="0">
                <a:solidFill>
                  <a:srgbClr val="FEB100"/>
                </a:solidFill>
                <a:latin typeface="Aptos" pitchFamily="34" charset="0"/>
                <a:ea typeface="Aptos" pitchFamily="34" charset="-122"/>
                <a:cs typeface="Aptos" pitchFamily="34" charset="-120"/>
              </a:rPr>
              <a:t>~65%</a:t>
            </a:r>
            <a:endParaRPr lang="en-US" sz="8000" dirty="0"/>
          </a:p>
        </p:txBody>
      </p:sp>
      <p:sp>
        <p:nvSpPr>
          <p:cNvPr id="10" name="Text 8"/>
          <p:cNvSpPr/>
          <p:nvPr/>
        </p:nvSpPr>
        <p:spPr>
          <a:xfrm>
            <a:off x="6675120" y="4069080"/>
            <a:ext cx="4480560" cy="822960"/>
          </a:xfrm>
          <a:prstGeom prst="rect">
            <a:avLst/>
          </a:prstGeom>
          <a:noFill/>
          <a:ln/>
        </p:spPr>
        <p:txBody>
          <a:bodyPr wrap="square" lIns="0" tIns="0" rIns="0" bIns="0" rtlCol="0" anchor="ctr"/>
          <a:lstStyle/>
          <a:p>
            <a:pPr marL="0" indent="0" algn="ctr">
              <a:buNone/>
            </a:pPr>
            <a:r>
              <a:rPr lang="en-US" sz="2000" b="1">
                <a:solidFill>
                  <a:srgbClr val="FFFFFF"/>
                </a:solidFill>
                <a:latin typeface="Aptos SemiBold" panose="020B0004020202020204" pitchFamily="34" charset="0"/>
                <a:ea typeface="Aptos" pitchFamily="34" charset="-122"/>
                <a:cs typeface="Aptos" pitchFamily="34" charset="-120"/>
              </a:rPr>
              <a:t>goes to personal profiles, like yours</a:t>
            </a:r>
            <a:endParaRPr lang="en-US" sz="2000" b="1">
              <a:latin typeface="Aptos SemiBold" panose="020B0004020202020204" pitchFamily="34" charset="0"/>
            </a:endParaRPr>
          </a:p>
        </p:txBody>
      </p:sp>
      <p:sp>
        <p:nvSpPr>
          <p:cNvPr id="11" name="Text 9"/>
          <p:cNvSpPr/>
          <p:nvPr/>
        </p:nvSpPr>
        <p:spPr>
          <a:xfrm>
            <a:off x="1349830" y="5622060"/>
            <a:ext cx="10171610" cy="365760"/>
          </a:xfrm>
          <a:prstGeom prst="rect">
            <a:avLst/>
          </a:prstGeom>
          <a:solidFill>
            <a:srgbClr val="FFF8EC"/>
          </a:solidFill>
          <a:ln/>
          <a:effectLst/>
        </p:spPr>
        <p:txBody>
          <a:bodyPr wrap="square" lIns="0" tIns="0" rIns="0" bIns="0" rtlCol="0" anchor="ctr"/>
          <a:lstStyle/>
          <a:p>
            <a:pPr marL="0" indent="0" algn="ctr">
              <a:buNone/>
            </a:pPr>
            <a:r>
              <a:rPr lang="en-US" sz="2000" dirty="0">
                <a:solidFill>
                  <a:srgbClr val="3A4B5B"/>
                </a:solidFill>
                <a:latin typeface="Aptos" pitchFamily="34" charset="0"/>
                <a:ea typeface="Aptos" pitchFamily="34" charset="-122"/>
                <a:cs typeface="Aptos" pitchFamily="34" charset="-120"/>
              </a:rPr>
              <a:t>Personal profiles earn roughly 70% more reach than company pages.</a:t>
            </a:r>
            <a:endParaRPr lang="en-US" sz="2000" dirty="0">
              <a:solidFill>
                <a:srgbClr val="3A4B5B"/>
              </a:solidFill>
            </a:endParaRPr>
          </a:p>
        </p:txBody>
      </p:sp>
      <p:pic>
        <p:nvPicPr>
          <p:cNvPr id="12" name="Image 0" descr="tag_slate.png"/>
          <p:cNvPicPr>
            <a:picLocks noChangeAspect="1"/>
          </p:cNvPicPr>
          <p:nvPr/>
        </p:nvPicPr>
        <p:blipFill>
          <a:blip r:embed="rId3"/>
          <a:stretch>
            <a:fillRect/>
          </a:stretch>
        </p:blipFill>
        <p:spPr>
          <a:xfrm>
            <a:off x="10225735" y="6291072"/>
            <a:ext cx="1325880" cy="292754"/>
          </a:xfrm>
          <a:prstGeom prst="rect">
            <a:avLst/>
          </a:prstGeom>
        </p:spPr>
      </p:pic>
      <p:pic>
        <p:nvPicPr>
          <p:cNvPr id="16" name="Graphic 15">
            <a:extLst>
              <a:ext uri="{FF2B5EF4-FFF2-40B4-BE49-F238E27FC236}">
                <a16:creationId xmlns:a16="http://schemas.microsoft.com/office/drawing/2014/main" id="{CC856B94-66DE-AD2A-A0E8-B55F60E3E92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2249" y="1415177"/>
            <a:ext cx="363554" cy="1351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pitchFamily="34" charset="0"/>
                <a:ea typeface="Aptos Light" pitchFamily="34" charset="-122"/>
                <a:cs typeface="Aptos Light" pitchFamily="34" charset="-120"/>
              </a:rPr>
              <a:t>You're Not Just Reach, </a:t>
            </a:r>
            <a:r>
              <a:rPr lang="en-US" sz="4800" i="1" dirty="0">
                <a:solidFill>
                  <a:srgbClr val="3A4B5B"/>
                </a:solidFill>
                <a:latin typeface="Aptos Light" pitchFamily="34" charset="0"/>
                <a:ea typeface="Aptos Light" pitchFamily="34" charset="-122"/>
                <a:cs typeface="Aptos Light" pitchFamily="34" charset="-120"/>
              </a:rPr>
              <a:t>You're the Channel</a:t>
            </a:r>
            <a:endParaRPr lang="en-US" sz="4800" i="1" dirty="0">
              <a:solidFill>
                <a:srgbClr val="3A4B5B"/>
              </a:solidFill>
            </a:endParaRPr>
          </a:p>
        </p:txBody>
      </p:sp>
      <p:sp>
        <p:nvSpPr>
          <p:cNvPr id="3" name="Text 1"/>
          <p:cNvSpPr/>
          <p:nvPr/>
        </p:nvSpPr>
        <p:spPr>
          <a:xfrm>
            <a:off x="821410" y="1457660"/>
            <a:ext cx="10261657" cy="1404411"/>
          </a:xfrm>
          <a:prstGeom prst="rect">
            <a:avLst/>
          </a:prstGeom>
          <a:noFill/>
          <a:ln/>
        </p:spPr>
        <p:txBody>
          <a:bodyPr wrap="square" lIns="0" tIns="0" rIns="0" bIns="0" rtlCol="0" anchor="ctr"/>
          <a:lstStyle/>
          <a:p>
            <a:r>
              <a:rPr lang="en-US" sz="2000" dirty="0">
                <a:solidFill>
                  <a:srgbClr val="222B33"/>
                </a:solidFill>
                <a:latin typeface="Aptos"/>
                <a:ea typeface="Aptos" pitchFamily="34" charset="-122"/>
                <a:cs typeface="Aptos" pitchFamily="34" charset="-120"/>
              </a:rPr>
              <a:t>You've spent your careers building relationships with builders, contractors, distributors, and dealers. When you post or comment, that's not just visibility we'd otherwise pay for, it’s working the same channel relationship you engage with every day, showing up where our customers and partners can see it.</a:t>
            </a:r>
            <a:endParaRPr lang="en-US" sz="2000" dirty="0">
              <a:latin typeface="Aptos"/>
            </a:endParaRPr>
          </a:p>
        </p:txBody>
      </p:sp>
      <p:sp>
        <p:nvSpPr>
          <p:cNvPr id="4" name="Shape 2"/>
          <p:cNvSpPr/>
          <p:nvPr/>
        </p:nvSpPr>
        <p:spPr>
          <a:xfrm>
            <a:off x="640080" y="3246120"/>
            <a:ext cx="3383280" cy="2194560"/>
          </a:xfrm>
          <a:prstGeom prst="roundRect">
            <a:avLst>
              <a:gd name="adj" fmla="val 2500"/>
            </a:avLst>
          </a:prstGeom>
          <a:solidFill>
            <a:srgbClr val="EEF1F3"/>
          </a:solidFill>
          <a:ln w="9525">
            <a:solidFill>
              <a:srgbClr val="E1E5E8"/>
            </a:solidFill>
            <a:prstDash val="solid"/>
          </a:ln>
          <a:effectLst/>
        </p:spPr>
        <p:txBody>
          <a:bodyPr/>
          <a:lstStyle/>
          <a:p>
            <a:endParaRPr lang="en-US"/>
          </a:p>
        </p:txBody>
      </p:sp>
      <p:sp>
        <p:nvSpPr>
          <p:cNvPr id="6" name="Text 4"/>
          <p:cNvSpPr/>
          <p:nvPr/>
        </p:nvSpPr>
        <p:spPr>
          <a:xfrm>
            <a:off x="1088136" y="4541972"/>
            <a:ext cx="2834640" cy="889564"/>
          </a:xfrm>
          <a:prstGeom prst="rect">
            <a:avLst/>
          </a:prstGeom>
          <a:noFill/>
          <a:ln/>
        </p:spPr>
        <p:txBody>
          <a:bodyPr wrap="square" lIns="0" tIns="0" rIns="0" bIns="0" rtlCol="0" anchor="t"/>
          <a:lstStyle/>
          <a:p>
            <a:r>
              <a:rPr lang="en-US" sz="1600" dirty="0">
                <a:solidFill>
                  <a:srgbClr val="222B33"/>
                </a:solidFill>
                <a:latin typeface="Aptos"/>
                <a:ea typeface="Aptos" pitchFamily="34" charset="-122"/>
                <a:cs typeface="Aptos" pitchFamily="34" charset="-120"/>
              </a:rPr>
              <a:t>The people who can choose what goes on the wall</a:t>
            </a:r>
            <a:endParaRPr lang="en-US" sz="1600" dirty="0">
              <a:latin typeface="Aptos"/>
            </a:endParaRPr>
          </a:p>
        </p:txBody>
      </p:sp>
      <p:sp>
        <p:nvSpPr>
          <p:cNvPr id="7" name="Shape 5"/>
          <p:cNvSpPr/>
          <p:nvPr/>
        </p:nvSpPr>
        <p:spPr>
          <a:xfrm>
            <a:off x="4297680" y="3246120"/>
            <a:ext cx="3383280" cy="2194560"/>
          </a:xfrm>
          <a:prstGeom prst="roundRect">
            <a:avLst>
              <a:gd name="adj" fmla="val 2500"/>
            </a:avLst>
          </a:prstGeom>
          <a:solidFill>
            <a:srgbClr val="EEF1F3"/>
          </a:solidFill>
          <a:ln w="9525">
            <a:solidFill>
              <a:srgbClr val="E1E5E8"/>
            </a:solidFill>
            <a:prstDash val="solid"/>
          </a:ln>
          <a:effectLst/>
        </p:spPr>
        <p:txBody>
          <a:bodyPr/>
          <a:lstStyle/>
          <a:p>
            <a:endParaRPr lang="en-US"/>
          </a:p>
        </p:txBody>
      </p:sp>
      <p:sp>
        <p:nvSpPr>
          <p:cNvPr id="8" name="Text 6"/>
          <p:cNvSpPr/>
          <p:nvPr/>
        </p:nvSpPr>
        <p:spPr>
          <a:xfrm>
            <a:off x="4572000" y="3666744"/>
            <a:ext cx="2834640" cy="731520"/>
          </a:xfrm>
          <a:prstGeom prst="rect">
            <a:avLst/>
          </a:prstGeom>
          <a:noFill/>
          <a:ln/>
        </p:spPr>
        <p:txBody>
          <a:bodyPr wrap="square" lIns="0" tIns="0" rIns="0" bIns="0" rtlCol="0" anchor="t"/>
          <a:lstStyle/>
          <a:p>
            <a:pPr marL="0" indent="0">
              <a:lnSpc>
                <a:spcPct val="80000"/>
              </a:lnSpc>
              <a:buNone/>
            </a:pPr>
            <a:r>
              <a:rPr lang="en-US" sz="2400" b="1" dirty="0">
                <a:solidFill>
                  <a:srgbClr val="3A4B5B"/>
                </a:solidFill>
                <a:latin typeface="Aptos" pitchFamily="34" charset="0"/>
                <a:ea typeface="Aptos" pitchFamily="34" charset="-122"/>
                <a:cs typeface="Aptos" pitchFamily="34" charset="-120"/>
              </a:rPr>
              <a:t>Distributors &amp; Dealers</a:t>
            </a:r>
            <a:endParaRPr lang="en-US" sz="2400" dirty="0"/>
          </a:p>
        </p:txBody>
      </p:sp>
      <p:sp>
        <p:nvSpPr>
          <p:cNvPr id="9" name="Text 7"/>
          <p:cNvSpPr/>
          <p:nvPr/>
        </p:nvSpPr>
        <p:spPr>
          <a:xfrm>
            <a:off x="4572000" y="4413956"/>
            <a:ext cx="2834640" cy="889564"/>
          </a:xfrm>
          <a:prstGeom prst="rect">
            <a:avLst/>
          </a:prstGeom>
          <a:noFill/>
          <a:ln/>
        </p:spPr>
        <p:txBody>
          <a:bodyPr wrap="square" lIns="0" tIns="0" rIns="0" bIns="0" rtlCol="0" anchor="t"/>
          <a:lstStyle/>
          <a:p>
            <a:pPr marL="0" indent="0">
              <a:buNone/>
            </a:pPr>
            <a:r>
              <a:rPr lang="en-US" sz="1600">
                <a:solidFill>
                  <a:srgbClr val="222B33"/>
                </a:solidFill>
                <a:latin typeface="Aptos"/>
                <a:ea typeface="Aptos" pitchFamily="34" charset="-122"/>
                <a:cs typeface="Aptos" pitchFamily="34" charset="-120"/>
              </a:rPr>
              <a:t>The relationships you already manage, made visible</a:t>
            </a:r>
            <a:endParaRPr lang="en-US" sz="1600">
              <a:latin typeface="Aptos"/>
            </a:endParaRPr>
          </a:p>
        </p:txBody>
      </p:sp>
      <p:sp>
        <p:nvSpPr>
          <p:cNvPr id="10" name="Shape 8"/>
          <p:cNvSpPr/>
          <p:nvPr/>
        </p:nvSpPr>
        <p:spPr>
          <a:xfrm>
            <a:off x="7955280" y="3246120"/>
            <a:ext cx="3383280" cy="2194560"/>
          </a:xfrm>
          <a:prstGeom prst="roundRect">
            <a:avLst>
              <a:gd name="adj" fmla="val 2500"/>
            </a:avLst>
          </a:prstGeom>
          <a:solidFill>
            <a:srgbClr val="EEF1F3"/>
          </a:solidFill>
          <a:ln w="9525">
            <a:solidFill>
              <a:srgbClr val="E1E5E8"/>
            </a:solidFill>
            <a:prstDash val="solid"/>
          </a:ln>
          <a:effectLst/>
        </p:spPr>
        <p:txBody>
          <a:bodyPr/>
          <a:lstStyle/>
          <a:p>
            <a:endParaRPr lang="en-US"/>
          </a:p>
        </p:txBody>
      </p:sp>
      <p:sp>
        <p:nvSpPr>
          <p:cNvPr id="11" name="Text 9"/>
          <p:cNvSpPr/>
          <p:nvPr/>
        </p:nvSpPr>
        <p:spPr>
          <a:xfrm>
            <a:off x="8229600" y="3666744"/>
            <a:ext cx="2834640" cy="731520"/>
          </a:xfrm>
          <a:prstGeom prst="rect">
            <a:avLst/>
          </a:prstGeom>
          <a:noFill/>
          <a:ln/>
        </p:spPr>
        <p:txBody>
          <a:bodyPr wrap="square" lIns="0" tIns="0" rIns="0" bIns="0" rtlCol="0" anchor="t"/>
          <a:lstStyle/>
          <a:p>
            <a:pPr marL="0" indent="0">
              <a:lnSpc>
                <a:spcPct val="80000"/>
              </a:lnSpc>
              <a:buNone/>
            </a:pPr>
            <a:r>
              <a:rPr lang="en-US" sz="2400" b="1" dirty="0">
                <a:solidFill>
                  <a:srgbClr val="3A4B5B"/>
                </a:solidFill>
                <a:latin typeface="Aptos" pitchFamily="34" charset="0"/>
                <a:ea typeface="Aptos" pitchFamily="34" charset="-122"/>
                <a:cs typeface="Aptos" pitchFamily="34" charset="-120"/>
              </a:rPr>
              <a:t>Architects &amp; Specifiers</a:t>
            </a:r>
            <a:endParaRPr lang="en-US" sz="2400" dirty="0"/>
          </a:p>
        </p:txBody>
      </p:sp>
      <p:sp>
        <p:nvSpPr>
          <p:cNvPr id="12" name="Text 10"/>
          <p:cNvSpPr/>
          <p:nvPr/>
        </p:nvSpPr>
        <p:spPr>
          <a:xfrm>
            <a:off x="8229600" y="4413956"/>
            <a:ext cx="2834640" cy="889564"/>
          </a:xfrm>
          <a:prstGeom prst="rect">
            <a:avLst/>
          </a:prstGeom>
          <a:noFill/>
          <a:ln/>
        </p:spPr>
        <p:txBody>
          <a:bodyPr wrap="square" lIns="0" tIns="0" rIns="0" bIns="0" rtlCol="0" anchor="t"/>
          <a:lstStyle/>
          <a:p>
            <a:pPr marL="0" indent="0">
              <a:buNone/>
            </a:pPr>
            <a:r>
              <a:rPr lang="en-US" sz="1600">
                <a:solidFill>
                  <a:srgbClr val="222B33"/>
                </a:solidFill>
                <a:latin typeface="Aptos"/>
                <a:ea typeface="Aptos" pitchFamily="34" charset="-122"/>
                <a:cs typeface="Aptos" pitchFamily="34" charset="-120"/>
              </a:rPr>
              <a:t>The people who write us into the project</a:t>
            </a:r>
            <a:endParaRPr lang="en-US" sz="1600">
              <a:latin typeface="Aptos"/>
            </a:endParaRPr>
          </a:p>
        </p:txBody>
      </p:sp>
      <p:pic>
        <p:nvPicPr>
          <p:cNvPr id="13" name="Image 0" descr="tag_slate.png"/>
          <p:cNvPicPr>
            <a:picLocks noChangeAspect="1"/>
          </p:cNvPicPr>
          <p:nvPr/>
        </p:nvPicPr>
        <p:blipFill>
          <a:blip r:embed="rId3"/>
          <a:stretch>
            <a:fillRect/>
          </a:stretch>
        </p:blipFill>
        <p:spPr>
          <a:xfrm>
            <a:off x="10225735" y="6291072"/>
            <a:ext cx="1325880" cy="292754"/>
          </a:xfrm>
          <a:prstGeom prst="rect">
            <a:avLst/>
          </a:prstGeom>
        </p:spPr>
      </p:pic>
      <p:sp>
        <p:nvSpPr>
          <p:cNvPr id="5" name="Text 3"/>
          <p:cNvSpPr/>
          <p:nvPr/>
        </p:nvSpPr>
        <p:spPr>
          <a:xfrm>
            <a:off x="1106424" y="3895344"/>
            <a:ext cx="2395728" cy="731520"/>
          </a:xfrm>
          <a:prstGeom prst="rect">
            <a:avLst/>
          </a:prstGeom>
          <a:noFill/>
          <a:ln/>
        </p:spPr>
        <p:txBody>
          <a:bodyPr wrap="square" lIns="0" tIns="0" rIns="0" bIns="0" rtlCol="0" anchor="t"/>
          <a:lstStyle/>
          <a:p>
            <a:pPr marL="0" indent="0">
              <a:lnSpc>
                <a:spcPct val="80000"/>
              </a:lnSpc>
              <a:buNone/>
            </a:pPr>
            <a:r>
              <a:rPr lang="en-US" sz="2400" b="1" dirty="0">
                <a:solidFill>
                  <a:srgbClr val="3A4B5B"/>
                </a:solidFill>
                <a:latin typeface="Aptos" pitchFamily="34" charset="0"/>
                <a:ea typeface="Aptos" pitchFamily="34" charset="-122"/>
                <a:cs typeface="Aptos" pitchFamily="34" charset="-120"/>
              </a:rPr>
              <a:t>Builders &amp; Contractors</a:t>
            </a:r>
            <a:endParaRPr lang="en-US" sz="2400" dirty="0"/>
          </a:p>
        </p:txBody>
      </p:sp>
      <p:pic>
        <p:nvPicPr>
          <p:cNvPr id="18" name="Graphic 17">
            <a:extLst>
              <a:ext uri="{FF2B5EF4-FFF2-40B4-BE49-F238E27FC236}">
                <a16:creationId xmlns:a16="http://schemas.microsoft.com/office/drawing/2014/main" id="{31E3B57D-AC12-A1E2-8777-C2195FBF17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57594" y="3080505"/>
            <a:ext cx="863452" cy="320929"/>
          </a:xfrm>
          <a:prstGeom prst="rect">
            <a:avLst/>
          </a:prstGeom>
        </p:spPr>
      </p:pic>
      <p:pic>
        <p:nvPicPr>
          <p:cNvPr id="21" name="Graphic 20">
            <a:extLst>
              <a:ext uri="{FF2B5EF4-FFF2-40B4-BE49-F238E27FC236}">
                <a16:creationId xmlns:a16="http://schemas.microsoft.com/office/drawing/2014/main" id="{8C5AE744-E4A1-BDCD-77C3-CA0C14402E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15194" y="3123780"/>
            <a:ext cx="863452" cy="320929"/>
          </a:xfrm>
          <a:prstGeom prst="rect">
            <a:avLst/>
          </a:prstGeom>
        </p:spPr>
      </p:pic>
      <p:pic>
        <p:nvPicPr>
          <p:cNvPr id="22" name="Graphic 21">
            <a:extLst>
              <a:ext uri="{FF2B5EF4-FFF2-40B4-BE49-F238E27FC236}">
                <a16:creationId xmlns:a16="http://schemas.microsoft.com/office/drawing/2014/main" id="{4AAEF039-5081-E5F1-3D07-9B35AEF756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99994" y="3080505"/>
            <a:ext cx="863452" cy="3209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a:ea typeface="Aptos Light" pitchFamily="34" charset="-122"/>
                <a:cs typeface="Aptos Light" pitchFamily="34" charset="-120"/>
              </a:rPr>
              <a:t>What Makes a Post Land</a:t>
            </a:r>
            <a:endParaRPr lang="en-US" sz="4800" dirty="0">
              <a:latin typeface="Aptos Light"/>
            </a:endParaRPr>
          </a:p>
        </p:txBody>
      </p:sp>
      <p:sp>
        <p:nvSpPr>
          <p:cNvPr id="3" name="Shape 1"/>
          <p:cNvSpPr/>
          <p:nvPr/>
        </p:nvSpPr>
        <p:spPr>
          <a:xfrm>
            <a:off x="640080" y="1828800"/>
            <a:ext cx="5257800" cy="1600200"/>
          </a:xfrm>
          <a:prstGeom prst="roundRect">
            <a:avLst>
              <a:gd name="adj" fmla="val 3429"/>
            </a:avLst>
          </a:prstGeom>
          <a:solidFill>
            <a:srgbClr val="3A4B5B"/>
          </a:solidFill>
          <a:ln w="9525">
            <a:solidFill>
              <a:srgbClr val="E1E5E8"/>
            </a:solidFill>
            <a:prstDash val="solid"/>
          </a:ln>
          <a:effectLst/>
        </p:spPr>
        <p:txBody>
          <a:bodyPr/>
          <a:lstStyle/>
          <a:p>
            <a:endParaRPr lang="en-US"/>
          </a:p>
        </p:txBody>
      </p:sp>
      <p:sp>
        <p:nvSpPr>
          <p:cNvPr id="4" name="Text 2"/>
          <p:cNvSpPr/>
          <p:nvPr/>
        </p:nvSpPr>
        <p:spPr>
          <a:xfrm>
            <a:off x="960120" y="2048256"/>
            <a:ext cx="4617720" cy="457200"/>
          </a:xfrm>
          <a:prstGeom prst="rect">
            <a:avLst/>
          </a:prstGeom>
          <a:noFill/>
          <a:ln/>
        </p:spPr>
        <p:txBody>
          <a:bodyPr wrap="square" lIns="0" tIns="0" rIns="0" bIns="0" rtlCol="0" anchor="ctr"/>
          <a:lstStyle/>
          <a:p>
            <a:pPr marL="0" indent="0">
              <a:buNone/>
            </a:pPr>
            <a:r>
              <a:rPr lang="en-US" sz="2000" b="1" dirty="0">
                <a:solidFill>
                  <a:schemeClr val="accent4"/>
                </a:solidFill>
                <a:latin typeface="Aptos" pitchFamily="34" charset="0"/>
                <a:ea typeface="Aptos" pitchFamily="34" charset="-122"/>
                <a:cs typeface="Aptos" pitchFamily="34" charset="-120"/>
              </a:rPr>
              <a:t>Sounds like you</a:t>
            </a:r>
            <a:endParaRPr lang="en-US" sz="2000" dirty="0">
              <a:solidFill>
                <a:schemeClr val="accent4"/>
              </a:solidFill>
            </a:endParaRPr>
          </a:p>
        </p:txBody>
      </p:sp>
      <p:sp>
        <p:nvSpPr>
          <p:cNvPr id="5" name="Text 3"/>
          <p:cNvSpPr/>
          <p:nvPr/>
        </p:nvSpPr>
        <p:spPr>
          <a:xfrm>
            <a:off x="960120" y="2542032"/>
            <a:ext cx="4617720" cy="777240"/>
          </a:xfrm>
          <a:prstGeom prst="rect">
            <a:avLst/>
          </a:prstGeom>
          <a:noFill/>
          <a:ln/>
        </p:spPr>
        <p:txBody>
          <a:bodyPr wrap="square" lIns="0" tIns="0" rIns="0" bIns="0" rtlCol="0" anchor="t"/>
          <a:lstStyle/>
          <a:p>
            <a:pPr marL="0" indent="0">
              <a:buNone/>
            </a:pPr>
            <a:r>
              <a:rPr lang="en-US" sz="1700" dirty="0">
                <a:solidFill>
                  <a:schemeClr val="bg1"/>
                </a:solidFill>
                <a:latin typeface="Aptos" pitchFamily="34" charset="0"/>
                <a:ea typeface="Aptos" pitchFamily="34" charset="-122"/>
                <a:cs typeface="Aptos" pitchFamily="34" charset="-120"/>
              </a:rPr>
              <a:t>Your words, your story. Identical copy from everyone gets buried by LinkedIn anyway.</a:t>
            </a:r>
            <a:endParaRPr lang="en-US" sz="1700" dirty="0">
              <a:solidFill>
                <a:schemeClr val="bg1"/>
              </a:solidFill>
            </a:endParaRPr>
          </a:p>
        </p:txBody>
      </p:sp>
      <p:sp>
        <p:nvSpPr>
          <p:cNvPr id="6" name="Shape 4"/>
          <p:cNvSpPr/>
          <p:nvPr/>
        </p:nvSpPr>
        <p:spPr>
          <a:xfrm>
            <a:off x="6172200" y="1828800"/>
            <a:ext cx="5257800" cy="1600200"/>
          </a:xfrm>
          <a:prstGeom prst="roundRect">
            <a:avLst>
              <a:gd name="adj" fmla="val 3429"/>
            </a:avLst>
          </a:prstGeom>
          <a:solidFill>
            <a:srgbClr val="EEF1F3"/>
          </a:solidFill>
          <a:ln w="9525">
            <a:solidFill>
              <a:srgbClr val="E1E5E8"/>
            </a:solidFill>
            <a:prstDash val="solid"/>
          </a:ln>
          <a:effectLst/>
        </p:spPr>
        <p:txBody>
          <a:bodyPr/>
          <a:lstStyle/>
          <a:p>
            <a:endParaRPr lang="en-US"/>
          </a:p>
        </p:txBody>
      </p:sp>
      <p:sp>
        <p:nvSpPr>
          <p:cNvPr id="7" name="Text 5"/>
          <p:cNvSpPr/>
          <p:nvPr/>
        </p:nvSpPr>
        <p:spPr>
          <a:xfrm>
            <a:off x="6492240" y="2048256"/>
            <a:ext cx="4617720" cy="457200"/>
          </a:xfrm>
          <a:prstGeom prst="rect">
            <a:avLst/>
          </a:prstGeom>
          <a:noFill/>
          <a:ln/>
        </p:spPr>
        <p:txBody>
          <a:bodyPr wrap="square" lIns="0" tIns="0" rIns="0" bIns="0" rtlCol="0" anchor="ctr"/>
          <a:lstStyle/>
          <a:p>
            <a:pPr marL="0" indent="0">
              <a:buNone/>
            </a:pPr>
            <a:r>
              <a:rPr lang="en-US" sz="2000" b="1" dirty="0">
                <a:solidFill>
                  <a:srgbClr val="3A4B5B"/>
                </a:solidFill>
                <a:latin typeface="Aptos" pitchFamily="34" charset="0"/>
                <a:ea typeface="Aptos" pitchFamily="34" charset="-122"/>
                <a:cs typeface="Aptos" pitchFamily="34" charset="-120"/>
              </a:rPr>
              <a:t>Keep it real</a:t>
            </a:r>
            <a:endParaRPr lang="en-US" sz="2000" dirty="0"/>
          </a:p>
        </p:txBody>
      </p:sp>
      <p:sp>
        <p:nvSpPr>
          <p:cNvPr id="8" name="Text 6"/>
          <p:cNvSpPr/>
          <p:nvPr/>
        </p:nvSpPr>
        <p:spPr>
          <a:xfrm>
            <a:off x="6492240" y="2542032"/>
            <a:ext cx="4617720" cy="777240"/>
          </a:xfrm>
          <a:prstGeom prst="rect">
            <a:avLst/>
          </a:prstGeom>
          <a:noFill/>
          <a:ln/>
        </p:spPr>
        <p:txBody>
          <a:bodyPr wrap="square" lIns="0" tIns="0" rIns="0" bIns="0" rtlCol="0" anchor="t"/>
          <a:lstStyle/>
          <a:p>
            <a:pPr marL="0" indent="0">
              <a:buNone/>
            </a:pPr>
            <a:r>
              <a:rPr lang="en-US" sz="1700" dirty="0">
                <a:solidFill>
                  <a:srgbClr val="222B33"/>
                </a:solidFill>
                <a:latin typeface="Aptos" pitchFamily="34" charset="0"/>
                <a:ea typeface="Aptos" pitchFamily="34" charset="-122"/>
                <a:cs typeface="Aptos" pitchFamily="34" charset="-120"/>
              </a:rPr>
              <a:t>Real jobs, real numbers, real people. AI-sounding filler gets penalized and people see through it.</a:t>
            </a:r>
            <a:endParaRPr lang="en-US" sz="1700" dirty="0"/>
          </a:p>
        </p:txBody>
      </p:sp>
      <p:sp>
        <p:nvSpPr>
          <p:cNvPr id="9" name="Shape 7"/>
          <p:cNvSpPr/>
          <p:nvPr/>
        </p:nvSpPr>
        <p:spPr>
          <a:xfrm>
            <a:off x="640080" y="3611880"/>
            <a:ext cx="5257800" cy="1600200"/>
          </a:xfrm>
          <a:prstGeom prst="roundRect">
            <a:avLst>
              <a:gd name="adj" fmla="val 3429"/>
            </a:avLst>
          </a:prstGeom>
          <a:solidFill>
            <a:srgbClr val="EEF1F3"/>
          </a:solidFill>
          <a:ln w="9525">
            <a:solidFill>
              <a:srgbClr val="E1E5E8"/>
            </a:solidFill>
            <a:prstDash val="solid"/>
          </a:ln>
          <a:effectLst/>
        </p:spPr>
        <p:txBody>
          <a:bodyPr/>
          <a:lstStyle/>
          <a:p>
            <a:endParaRPr lang="en-US"/>
          </a:p>
        </p:txBody>
      </p:sp>
      <p:sp>
        <p:nvSpPr>
          <p:cNvPr id="10" name="Text 8"/>
          <p:cNvSpPr/>
          <p:nvPr/>
        </p:nvSpPr>
        <p:spPr>
          <a:xfrm>
            <a:off x="960120" y="3831336"/>
            <a:ext cx="4617720" cy="457200"/>
          </a:xfrm>
          <a:prstGeom prst="rect">
            <a:avLst/>
          </a:prstGeom>
          <a:noFill/>
          <a:ln/>
        </p:spPr>
        <p:txBody>
          <a:bodyPr wrap="square" lIns="0" tIns="0" rIns="0" bIns="0" rtlCol="0" anchor="ctr"/>
          <a:lstStyle/>
          <a:p>
            <a:pPr marL="0" indent="0">
              <a:buNone/>
            </a:pPr>
            <a:r>
              <a:rPr lang="en-US" sz="2000" b="1" dirty="0">
                <a:solidFill>
                  <a:srgbClr val="3A4B5B"/>
                </a:solidFill>
                <a:latin typeface="Aptos" pitchFamily="34" charset="0"/>
                <a:ea typeface="Aptos" pitchFamily="34" charset="-122"/>
                <a:cs typeface="Aptos" pitchFamily="34" charset="-120"/>
              </a:rPr>
              <a:t>Links go in the comments</a:t>
            </a:r>
            <a:endParaRPr lang="en-US" sz="2000" dirty="0"/>
          </a:p>
        </p:txBody>
      </p:sp>
      <p:sp>
        <p:nvSpPr>
          <p:cNvPr id="11" name="Text 9"/>
          <p:cNvSpPr/>
          <p:nvPr/>
        </p:nvSpPr>
        <p:spPr>
          <a:xfrm>
            <a:off x="960120" y="4325112"/>
            <a:ext cx="4617720" cy="777240"/>
          </a:xfrm>
          <a:prstGeom prst="rect">
            <a:avLst/>
          </a:prstGeom>
          <a:noFill/>
          <a:ln/>
        </p:spPr>
        <p:txBody>
          <a:bodyPr wrap="square" lIns="0" tIns="0" rIns="0" bIns="0" rtlCol="0" anchor="t"/>
          <a:lstStyle/>
          <a:p>
            <a:pPr marL="0" indent="0">
              <a:buNone/>
            </a:pPr>
            <a:r>
              <a:rPr lang="en-US" sz="1700" dirty="0">
                <a:solidFill>
                  <a:srgbClr val="222B33"/>
                </a:solidFill>
                <a:latin typeface="Aptos" pitchFamily="34" charset="0"/>
                <a:ea typeface="Aptos" pitchFamily="34" charset="-122"/>
                <a:cs typeface="Aptos" pitchFamily="34" charset="-120"/>
              </a:rPr>
              <a:t>A link in the post itself cuts reach by about 60%. Drop it in the first comment instead.</a:t>
            </a:r>
            <a:endParaRPr lang="en-US" sz="1700" dirty="0"/>
          </a:p>
        </p:txBody>
      </p:sp>
      <p:sp>
        <p:nvSpPr>
          <p:cNvPr id="12" name="Shape 10"/>
          <p:cNvSpPr/>
          <p:nvPr/>
        </p:nvSpPr>
        <p:spPr>
          <a:xfrm>
            <a:off x="6172200" y="3611880"/>
            <a:ext cx="5257800" cy="1600200"/>
          </a:xfrm>
          <a:prstGeom prst="roundRect">
            <a:avLst>
              <a:gd name="adj" fmla="val 3429"/>
            </a:avLst>
          </a:prstGeom>
          <a:solidFill>
            <a:srgbClr val="EEF1F3"/>
          </a:solidFill>
          <a:ln w="9525">
            <a:solidFill>
              <a:srgbClr val="E1E5E8"/>
            </a:solidFill>
            <a:prstDash val="solid"/>
          </a:ln>
          <a:effectLst/>
        </p:spPr>
        <p:txBody>
          <a:bodyPr/>
          <a:lstStyle/>
          <a:p>
            <a:endParaRPr lang="en-US"/>
          </a:p>
        </p:txBody>
      </p:sp>
      <p:sp>
        <p:nvSpPr>
          <p:cNvPr id="13" name="Text 11"/>
          <p:cNvSpPr/>
          <p:nvPr/>
        </p:nvSpPr>
        <p:spPr>
          <a:xfrm>
            <a:off x="6492240" y="3831336"/>
            <a:ext cx="4617720" cy="457200"/>
          </a:xfrm>
          <a:prstGeom prst="rect">
            <a:avLst/>
          </a:prstGeom>
          <a:noFill/>
          <a:ln/>
        </p:spPr>
        <p:txBody>
          <a:bodyPr wrap="square" lIns="0" tIns="0" rIns="0" bIns="0" rtlCol="0" anchor="ctr"/>
          <a:lstStyle/>
          <a:p>
            <a:pPr marL="0" indent="0">
              <a:buNone/>
            </a:pPr>
            <a:r>
              <a:rPr lang="en-US" sz="2000" b="1" dirty="0">
                <a:solidFill>
                  <a:srgbClr val="3A4B5B"/>
                </a:solidFill>
                <a:latin typeface="Aptos" pitchFamily="34" charset="0"/>
                <a:ea typeface="Aptos" pitchFamily="34" charset="-122"/>
                <a:cs typeface="Aptos" pitchFamily="34" charset="-120"/>
              </a:rPr>
              <a:t>Tag partners and customers</a:t>
            </a:r>
            <a:endParaRPr lang="en-US" sz="2000" dirty="0"/>
          </a:p>
        </p:txBody>
      </p:sp>
      <p:sp>
        <p:nvSpPr>
          <p:cNvPr id="14" name="Text 12"/>
          <p:cNvSpPr/>
          <p:nvPr/>
        </p:nvSpPr>
        <p:spPr>
          <a:xfrm>
            <a:off x="6492240" y="4325112"/>
            <a:ext cx="4617720" cy="777240"/>
          </a:xfrm>
          <a:prstGeom prst="rect">
            <a:avLst/>
          </a:prstGeom>
          <a:noFill/>
          <a:ln/>
        </p:spPr>
        <p:txBody>
          <a:bodyPr wrap="square" lIns="0" tIns="0" rIns="0" bIns="0" rtlCol="0" anchor="t"/>
          <a:lstStyle/>
          <a:p>
            <a:pPr marL="0" indent="0">
              <a:buNone/>
            </a:pPr>
            <a:r>
              <a:rPr lang="en-US" sz="1700" dirty="0">
                <a:solidFill>
                  <a:srgbClr val="222B33"/>
                </a:solidFill>
                <a:latin typeface="Aptos" pitchFamily="34" charset="0"/>
                <a:ea typeface="Aptos" pitchFamily="34" charset="-122"/>
                <a:cs typeface="Aptos" pitchFamily="34" charset="-120"/>
              </a:rPr>
              <a:t>When you tag them, they reshare, and you reach their whole network too.</a:t>
            </a:r>
            <a:endParaRPr lang="en-US" sz="1700" dirty="0"/>
          </a:p>
        </p:txBody>
      </p:sp>
      <p:pic>
        <p:nvPicPr>
          <p:cNvPr id="15" name="Image 0" descr="tag_slate.png"/>
          <p:cNvPicPr>
            <a:picLocks noChangeAspect="1"/>
          </p:cNvPicPr>
          <p:nvPr/>
        </p:nvPicPr>
        <p:blipFill>
          <a:blip r:embed="rId3"/>
          <a:stretch>
            <a:fillRect/>
          </a:stretch>
        </p:blipFill>
        <p:spPr>
          <a:xfrm>
            <a:off x="10225735" y="6291072"/>
            <a:ext cx="1325880" cy="292754"/>
          </a:xfrm>
          <a:prstGeom prst="rect">
            <a:avLst/>
          </a:prstGeom>
        </p:spPr>
      </p:pic>
      <p:sp>
        <p:nvSpPr>
          <p:cNvPr id="29" name="Diagonal Stripe 28">
            <a:extLst>
              <a:ext uri="{FF2B5EF4-FFF2-40B4-BE49-F238E27FC236}">
                <a16:creationId xmlns:a16="http://schemas.microsoft.com/office/drawing/2014/main" id="{5284984B-E35B-BB10-6398-D79CA9246698}"/>
              </a:ext>
            </a:extLst>
          </p:cNvPr>
          <p:cNvSpPr/>
          <p:nvPr/>
        </p:nvSpPr>
        <p:spPr>
          <a:xfrm rot="10800000">
            <a:off x="5181599" y="4651171"/>
            <a:ext cx="716279" cy="560907"/>
          </a:xfrm>
          <a:prstGeom prst="diagStripe">
            <a:avLst/>
          </a:prstGeom>
          <a:solidFill>
            <a:srgbClr val="FDB1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Diagonal Stripe 29">
            <a:extLst>
              <a:ext uri="{FF2B5EF4-FFF2-40B4-BE49-F238E27FC236}">
                <a16:creationId xmlns:a16="http://schemas.microsoft.com/office/drawing/2014/main" id="{E05E27E9-2781-252B-7A3A-660904E1968B}"/>
              </a:ext>
            </a:extLst>
          </p:cNvPr>
          <p:cNvSpPr/>
          <p:nvPr/>
        </p:nvSpPr>
        <p:spPr>
          <a:xfrm rot="10800000">
            <a:off x="10713720" y="2867750"/>
            <a:ext cx="716279" cy="560907"/>
          </a:xfrm>
          <a:prstGeom prst="diagStripe">
            <a:avLst/>
          </a:prstGeom>
          <a:solidFill>
            <a:srgbClr val="FDB1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Diagonal Stripe 30">
            <a:extLst>
              <a:ext uri="{FF2B5EF4-FFF2-40B4-BE49-F238E27FC236}">
                <a16:creationId xmlns:a16="http://schemas.microsoft.com/office/drawing/2014/main" id="{C08C6650-D8B7-83FC-ADFD-C30096AD31DF}"/>
              </a:ext>
            </a:extLst>
          </p:cNvPr>
          <p:cNvSpPr/>
          <p:nvPr/>
        </p:nvSpPr>
        <p:spPr>
          <a:xfrm rot="10800000">
            <a:off x="10713720" y="4655323"/>
            <a:ext cx="716279" cy="560907"/>
          </a:xfrm>
          <a:prstGeom prst="diagStripe">
            <a:avLst/>
          </a:prstGeom>
          <a:solidFill>
            <a:srgbClr val="FDB1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854E4FCD-B2D6-CE84-98ED-7977D42BE354}"/>
              </a:ext>
            </a:extLst>
          </p:cNvPr>
          <p:cNvSpPr/>
          <p:nvPr/>
        </p:nvSpPr>
        <p:spPr>
          <a:xfrm>
            <a:off x="0" y="1930400"/>
            <a:ext cx="12192000" cy="3687486"/>
          </a:xfrm>
          <a:prstGeom prst="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640080" y="438912"/>
            <a:ext cx="10972800" cy="777240"/>
          </a:xfrm>
          <a:prstGeom prst="rect">
            <a:avLst/>
          </a:prstGeom>
          <a:noFill/>
          <a:ln/>
        </p:spPr>
        <p:txBody>
          <a:bodyPr wrap="square" lIns="0" tIns="0" rIns="0" bIns="0" rtlCol="0" anchor="t"/>
          <a:lstStyle/>
          <a:p>
            <a:r>
              <a:rPr lang="en-US" sz="4800" dirty="0">
                <a:solidFill>
                  <a:srgbClr val="3A4B5B"/>
                </a:solidFill>
                <a:latin typeface="Aptos Light"/>
                <a:ea typeface="Aptos Light" pitchFamily="34" charset="-122"/>
                <a:cs typeface="Aptos Light" pitchFamily="34" charset="-120"/>
              </a:rPr>
              <a:t>We Can Help, but You Add the Real Part</a:t>
            </a:r>
            <a:endParaRPr lang="en-US" sz="4800" dirty="0">
              <a:latin typeface="Aptos Light"/>
            </a:endParaRPr>
          </a:p>
        </p:txBody>
      </p:sp>
      <p:sp>
        <p:nvSpPr>
          <p:cNvPr id="3" name="Text 1"/>
          <p:cNvSpPr/>
          <p:nvPr/>
        </p:nvSpPr>
        <p:spPr>
          <a:xfrm>
            <a:off x="640080" y="1236830"/>
            <a:ext cx="10683240" cy="365760"/>
          </a:xfrm>
          <a:prstGeom prst="rect">
            <a:avLst/>
          </a:prstGeom>
          <a:noFill/>
          <a:ln/>
        </p:spPr>
        <p:txBody>
          <a:bodyPr wrap="square" lIns="0" tIns="0" rIns="0" bIns="0" rtlCol="0" anchor="ctr"/>
          <a:lstStyle/>
          <a:p>
            <a:r>
              <a:rPr lang="en-US" sz="2400" dirty="0">
                <a:solidFill>
                  <a:srgbClr val="6A7A88"/>
                </a:solidFill>
                <a:latin typeface="Aptos"/>
                <a:ea typeface="Aptos" pitchFamily="34" charset="-122"/>
                <a:cs typeface="Aptos" pitchFamily="34" charset="-120"/>
              </a:rPr>
              <a:t>You'll never face a blank page, we can provide help with ideas and content</a:t>
            </a:r>
            <a:endParaRPr lang="en-US" sz="2400" dirty="0">
              <a:latin typeface="Aptos"/>
            </a:endParaRPr>
          </a:p>
        </p:txBody>
      </p:sp>
      <p:pic>
        <p:nvPicPr>
          <p:cNvPr id="16" name="Image 0" descr="tag_slate.png"/>
          <p:cNvPicPr>
            <a:picLocks noChangeAspect="1"/>
          </p:cNvPicPr>
          <p:nvPr/>
        </p:nvPicPr>
        <p:blipFill>
          <a:blip r:embed="rId3"/>
          <a:stretch>
            <a:fillRect/>
          </a:stretch>
        </p:blipFill>
        <p:spPr>
          <a:xfrm>
            <a:off x="10225735" y="6291072"/>
            <a:ext cx="1325880" cy="292754"/>
          </a:xfrm>
          <a:prstGeom prst="rect">
            <a:avLst/>
          </a:prstGeom>
        </p:spPr>
      </p:pic>
      <p:pic>
        <p:nvPicPr>
          <p:cNvPr id="59" name="Picture 58">
            <a:extLst>
              <a:ext uri="{FF2B5EF4-FFF2-40B4-BE49-F238E27FC236}">
                <a16:creationId xmlns:a16="http://schemas.microsoft.com/office/drawing/2014/main" id="{5031E49F-C682-CAD2-8F14-A15312EDBA78}"/>
              </a:ext>
            </a:extLst>
          </p:cNvPr>
          <p:cNvPicPr>
            <a:picLocks noChangeAspect="1"/>
          </p:cNvPicPr>
          <p:nvPr/>
        </p:nvPicPr>
        <p:blipFill>
          <a:blip r:embed="rId4"/>
          <a:srcRect l="1452" t="7159" r="4708" b="3130"/>
          <a:stretch>
            <a:fillRect/>
          </a:stretch>
        </p:blipFill>
        <p:spPr>
          <a:xfrm>
            <a:off x="510540" y="1930400"/>
            <a:ext cx="11170920" cy="36874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panose="020B0004020202020204" pitchFamily="34" charset="0"/>
                <a:ea typeface="Aptos Light" pitchFamily="34" charset="-122"/>
                <a:cs typeface="Aptos Light" pitchFamily="34" charset="-120"/>
              </a:rPr>
              <a:t>What We're Not Asking You to Do</a:t>
            </a:r>
            <a:endParaRPr lang="en-US" sz="4800" dirty="0">
              <a:latin typeface="Aptos Light" panose="020B0004020202020204" pitchFamily="34" charset="0"/>
            </a:endParaRPr>
          </a:p>
        </p:txBody>
      </p:sp>
      <p:sp>
        <p:nvSpPr>
          <p:cNvPr id="3" name="Shape 1"/>
          <p:cNvSpPr/>
          <p:nvPr/>
        </p:nvSpPr>
        <p:spPr>
          <a:xfrm>
            <a:off x="640080" y="2103120"/>
            <a:ext cx="3383280" cy="2743200"/>
          </a:xfrm>
          <a:prstGeom prst="roundRect">
            <a:avLst>
              <a:gd name="adj" fmla="val 2000"/>
            </a:avLst>
          </a:prstGeom>
          <a:solidFill>
            <a:srgbClr val="FFFFFF"/>
          </a:solidFill>
          <a:ln w="9525">
            <a:solidFill>
              <a:srgbClr val="3A4B5B"/>
            </a:solidFill>
            <a:prstDash val="solid"/>
          </a:ln>
          <a:effectLst/>
        </p:spPr>
        <p:txBody>
          <a:bodyPr/>
          <a:lstStyle/>
          <a:p>
            <a:endParaRPr lang="en-US"/>
          </a:p>
        </p:txBody>
      </p:sp>
      <p:sp>
        <p:nvSpPr>
          <p:cNvPr id="4" name="Text 2"/>
          <p:cNvSpPr/>
          <p:nvPr/>
        </p:nvSpPr>
        <p:spPr>
          <a:xfrm>
            <a:off x="914400" y="2377440"/>
            <a:ext cx="548640" cy="548640"/>
          </a:xfrm>
          <a:prstGeom prst="rect">
            <a:avLst/>
          </a:prstGeom>
          <a:noFill/>
          <a:ln/>
        </p:spPr>
        <p:txBody>
          <a:bodyPr wrap="square" lIns="0" tIns="0" rIns="0" bIns="0" rtlCol="0" anchor="ctr"/>
          <a:lstStyle/>
          <a:p>
            <a:pPr marL="0" indent="0">
              <a:buNone/>
            </a:pPr>
            <a:r>
              <a:rPr lang="en-US" sz="3600" b="1" dirty="0">
                <a:solidFill>
                  <a:srgbClr val="C00000"/>
                </a:solidFill>
                <a:latin typeface="Aptos" pitchFamily="34" charset="0"/>
                <a:ea typeface="Aptos" pitchFamily="34" charset="-122"/>
                <a:cs typeface="Aptos" pitchFamily="34" charset="-120"/>
              </a:rPr>
              <a:t>✕</a:t>
            </a:r>
            <a:endParaRPr lang="en-US" sz="3600" dirty="0">
              <a:solidFill>
                <a:srgbClr val="C00000"/>
              </a:solidFill>
            </a:endParaRPr>
          </a:p>
        </p:txBody>
      </p:sp>
      <p:sp>
        <p:nvSpPr>
          <p:cNvPr id="5" name="Text 3"/>
          <p:cNvSpPr/>
          <p:nvPr/>
        </p:nvSpPr>
        <p:spPr>
          <a:xfrm>
            <a:off x="914400" y="3063240"/>
            <a:ext cx="2834640" cy="731520"/>
          </a:xfrm>
          <a:prstGeom prst="rect">
            <a:avLst/>
          </a:prstGeom>
          <a:noFill/>
          <a:ln/>
        </p:spPr>
        <p:txBody>
          <a:bodyPr wrap="square" lIns="0" tIns="0" rIns="0" bIns="0" rtlCol="0" anchor="t"/>
          <a:lstStyle/>
          <a:p>
            <a:pPr marL="0" indent="0">
              <a:buNone/>
            </a:pPr>
            <a:r>
              <a:rPr lang="en-US" sz="1900" b="1">
                <a:solidFill>
                  <a:srgbClr val="3A4B5B"/>
                </a:solidFill>
                <a:latin typeface="Aptos" pitchFamily="34" charset="0"/>
                <a:ea typeface="Aptos" pitchFamily="34" charset="-122"/>
                <a:cs typeface="Aptos" pitchFamily="34" charset="-120"/>
              </a:rPr>
              <a:t>Become an influencer</a:t>
            </a:r>
            <a:endParaRPr lang="en-US" sz="1900"/>
          </a:p>
        </p:txBody>
      </p:sp>
      <p:sp>
        <p:nvSpPr>
          <p:cNvPr id="6" name="Text 4"/>
          <p:cNvSpPr/>
          <p:nvPr/>
        </p:nvSpPr>
        <p:spPr>
          <a:xfrm>
            <a:off x="914400" y="3840480"/>
            <a:ext cx="2834640" cy="1097280"/>
          </a:xfrm>
          <a:prstGeom prst="rect">
            <a:avLst/>
          </a:prstGeom>
          <a:noFill/>
          <a:ln/>
        </p:spPr>
        <p:txBody>
          <a:bodyPr wrap="square" lIns="0" tIns="0" rIns="0" bIns="0" rtlCol="0" anchor="t"/>
          <a:lstStyle/>
          <a:p>
            <a:pPr marL="0" indent="0">
              <a:buNone/>
            </a:pPr>
            <a:r>
              <a:rPr lang="en-US" sz="1500">
                <a:solidFill>
                  <a:srgbClr val="222B33"/>
                </a:solidFill>
                <a:latin typeface="Aptos" pitchFamily="34" charset="0"/>
                <a:ea typeface="Aptos" pitchFamily="34" charset="-122"/>
                <a:cs typeface="Aptos" pitchFamily="34" charset="-120"/>
              </a:rPr>
              <a:t>No personal brand, no hustle, no daily posting.</a:t>
            </a:r>
            <a:endParaRPr lang="en-US" sz="1500"/>
          </a:p>
        </p:txBody>
      </p:sp>
      <p:sp>
        <p:nvSpPr>
          <p:cNvPr id="7" name="Shape 5"/>
          <p:cNvSpPr/>
          <p:nvPr/>
        </p:nvSpPr>
        <p:spPr>
          <a:xfrm>
            <a:off x="4297680" y="2103120"/>
            <a:ext cx="3383280" cy="2743200"/>
          </a:xfrm>
          <a:prstGeom prst="roundRect">
            <a:avLst>
              <a:gd name="adj" fmla="val 2000"/>
            </a:avLst>
          </a:prstGeom>
          <a:solidFill>
            <a:srgbClr val="FFFFFF"/>
          </a:solidFill>
          <a:ln w="9525">
            <a:solidFill>
              <a:srgbClr val="3A4B5B"/>
            </a:solidFill>
            <a:prstDash val="solid"/>
          </a:ln>
          <a:effectLst/>
        </p:spPr>
        <p:txBody>
          <a:bodyPr/>
          <a:lstStyle/>
          <a:p>
            <a:endParaRPr lang="en-US"/>
          </a:p>
        </p:txBody>
      </p:sp>
      <p:sp>
        <p:nvSpPr>
          <p:cNvPr id="8" name="Text 6"/>
          <p:cNvSpPr/>
          <p:nvPr/>
        </p:nvSpPr>
        <p:spPr>
          <a:xfrm>
            <a:off x="4572000" y="2377440"/>
            <a:ext cx="548640" cy="548640"/>
          </a:xfrm>
          <a:prstGeom prst="rect">
            <a:avLst/>
          </a:prstGeom>
          <a:noFill/>
          <a:ln/>
        </p:spPr>
        <p:txBody>
          <a:bodyPr wrap="square" lIns="0" tIns="0" rIns="0" bIns="0" rtlCol="0" anchor="ctr"/>
          <a:lstStyle/>
          <a:p>
            <a:pPr marL="0" indent="0">
              <a:buNone/>
            </a:pPr>
            <a:r>
              <a:rPr lang="en-US" sz="3600" b="1" dirty="0">
                <a:solidFill>
                  <a:srgbClr val="C00000"/>
                </a:solidFill>
                <a:latin typeface="Aptos" pitchFamily="34" charset="0"/>
                <a:ea typeface="Aptos" pitchFamily="34" charset="-122"/>
                <a:cs typeface="Aptos" pitchFamily="34" charset="-120"/>
              </a:rPr>
              <a:t>✕</a:t>
            </a:r>
            <a:endParaRPr lang="en-US" sz="3600" dirty="0">
              <a:solidFill>
                <a:srgbClr val="C00000"/>
              </a:solidFill>
            </a:endParaRPr>
          </a:p>
        </p:txBody>
      </p:sp>
      <p:sp>
        <p:nvSpPr>
          <p:cNvPr id="9" name="Text 7"/>
          <p:cNvSpPr/>
          <p:nvPr/>
        </p:nvSpPr>
        <p:spPr>
          <a:xfrm>
            <a:off x="4572000" y="3063240"/>
            <a:ext cx="2834640" cy="731520"/>
          </a:xfrm>
          <a:prstGeom prst="rect">
            <a:avLst/>
          </a:prstGeom>
          <a:noFill/>
          <a:ln/>
        </p:spPr>
        <p:txBody>
          <a:bodyPr wrap="square" lIns="0" tIns="0" rIns="0" bIns="0" rtlCol="0" anchor="t"/>
          <a:lstStyle/>
          <a:p>
            <a:pPr marL="0" indent="0">
              <a:buNone/>
            </a:pPr>
            <a:r>
              <a:rPr lang="en-US" sz="1900" b="1">
                <a:solidFill>
                  <a:srgbClr val="3A4B5B"/>
                </a:solidFill>
                <a:latin typeface="Aptos" pitchFamily="34" charset="0"/>
                <a:ea typeface="Aptos" pitchFamily="34" charset="-122"/>
                <a:cs typeface="Aptos" pitchFamily="34" charset="-120"/>
              </a:rPr>
              <a:t>Spend hours on it</a:t>
            </a:r>
            <a:endParaRPr lang="en-US" sz="1900"/>
          </a:p>
        </p:txBody>
      </p:sp>
      <p:sp>
        <p:nvSpPr>
          <p:cNvPr id="10" name="Text 8"/>
          <p:cNvSpPr/>
          <p:nvPr/>
        </p:nvSpPr>
        <p:spPr>
          <a:xfrm>
            <a:off x="4572000" y="3840480"/>
            <a:ext cx="2834640" cy="1097280"/>
          </a:xfrm>
          <a:prstGeom prst="rect">
            <a:avLst/>
          </a:prstGeom>
          <a:noFill/>
          <a:ln/>
        </p:spPr>
        <p:txBody>
          <a:bodyPr wrap="square" lIns="0" tIns="0" rIns="0" bIns="0" rtlCol="0" anchor="t"/>
          <a:lstStyle/>
          <a:p>
            <a:pPr marL="0" indent="0">
              <a:buNone/>
            </a:pPr>
            <a:r>
              <a:rPr lang="en-US" sz="1500">
                <a:solidFill>
                  <a:srgbClr val="222B33"/>
                </a:solidFill>
                <a:latin typeface="Aptos" pitchFamily="34" charset="0"/>
                <a:ea typeface="Aptos" pitchFamily="34" charset="-122"/>
                <a:cs typeface="Aptos" pitchFamily="34" charset="-120"/>
              </a:rPr>
              <a:t>Minutes a week. Most of it is one tap.</a:t>
            </a:r>
            <a:endParaRPr lang="en-US" sz="1500"/>
          </a:p>
        </p:txBody>
      </p:sp>
      <p:sp>
        <p:nvSpPr>
          <p:cNvPr id="11" name="Shape 9"/>
          <p:cNvSpPr/>
          <p:nvPr/>
        </p:nvSpPr>
        <p:spPr>
          <a:xfrm>
            <a:off x="7955280" y="2103120"/>
            <a:ext cx="3383280" cy="2743200"/>
          </a:xfrm>
          <a:prstGeom prst="roundRect">
            <a:avLst>
              <a:gd name="adj" fmla="val 2000"/>
            </a:avLst>
          </a:prstGeom>
          <a:solidFill>
            <a:srgbClr val="FFFFFF"/>
          </a:solidFill>
          <a:ln w="9525">
            <a:solidFill>
              <a:srgbClr val="3A4B5B"/>
            </a:solidFill>
            <a:prstDash val="solid"/>
          </a:ln>
          <a:effectLst/>
        </p:spPr>
        <p:txBody>
          <a:bodyPr/>
          <a:lstStyle/>
          <a:p>
            <a:endParaRPr lang="en-US"/>
          </a:p>
        </p:txBody>
      </p:sp>
      <p:sp>
        <p:nvSpPr>
          <p:cNvPr id="12" name="Text 10"/>
          <p:cNvSpPr/>
          <p:nvPr/>
        </p:nvSpPr>
        <p:spPr>
          <a:xfrm>
            <a:off x="8229600" y="2377440"/>
            <a:ext cx="548640" cy="548640"/>
          </a:xfrm>
          <a:prstGeom prst="rect">
            <a:avLst/>
          </a:prstGeom>
          <a:noFill/>
          <a:ln/>
        </p:spPr>
        <p:txBody>
          <a:bodyPr wrap="square" lIns="0" tIns="0" rIns="0" bIns="0" rtlCol="0" anchor="ctr"/>
          <a:lstStyle/>
          <a:p>
            <a:pPr marL="0" indent="0">
              <a:buNone/>
            </a:pPr>
            <a:r>
              <a:rPr lang="en-US" sz="3600" b="1" dirty="0">
                <a:solidFill>
                  <a:srgbClr val="C00000"/>
                </a:solidFill>
                <a:latin typeface="Aptos" pitchFamily="34" charset="0"/>
                <a:ea typeface="Aptos" pitchFamily="34" charset="-122"/>
                <a:cs typeface="Aptos" pitchFamily="34" charset="-120"/>
              </a:rPr>
              <a:t>✕</a:t>
            </a:r>
            <a:endParaRPr lang="en-US" sz="3600" dirty="0">
              <a:solidFill>
                <a:srgbClr val="C00000"/>
              </a:solidFill>
            </a:endParaRPr>
          </a:p>
        </p:txBody>
      </p:sp>
      <p:sp>
        <p:nvSpPr>
          <p:cNvPr id="13" name="Text 11"/>
          <p:cNvSpPr/>
          <p:nvPr/>
        </p:nvSpPr>
        <p:spPr>
          <a:xfrm>
            <a:off x="8229600" y="3063240"/>
            <a:ext cx="2834640" cy="731520"/>
          </a:xfrm>
          <a:prstGeom prst="rect">
            <a:avLst/>
          </a:prstGeom>
          <a:noFill/>
          <a:ln/>
        </p:spPr>
        <p:txBody>
          <a:bodyPr wrap="square" lIns="0" tIns="0" rIns="0" bIns="0" rtlCol="0" anchor="t"/>
          <a:lstStyle/>
          <a:p>
            <a:pPr marL="0" indent="0">
              <a:buNone/>
            </a:pPr>
            <a:r>
              <a:rPr lang="en-US" sz="1900" b="1">
                <a:solidFill>
                  <a:srgbClr val="3A4B5B"/>
                </a:solidFill>
                <a:latin typeface="Aptos" pitchFamily="34" charset="0"/>
                <a:ea typeface="Aptos" pitchFamily="34" charset="-122"/>
                <a:cs typeface="Aptos" pitchFamily="34" charset="-120"/>
              </a:rPr>
              <a:t>Be clever or salesy</a:t>
            </a:r>
            <a:endParaRPr lang="en-US" sz="1900"/>
          </a:p>
        </p:txBody>
      </p:sp>
      <p:sp>
        <p:nvSpPr>
          <p:cNvPr id="14" name="Text 12"/>
          <p:cNvSpPr/>
          <p:nvPr/>
        </p:nvSpPr>
        <p:spPr>
          <a:xfrm>
            <a:off x="8229600" y="3840480"/>
            <a:ext cx="2834640" cy="1097280"/>
          </a:xfrm>
          <a:prstGeom prst="rect">
            <a:avLst/>
          </a:prstGeom>
          <a:noFill/>
          <a:ln/>
        </p:spPr>
        <p:txBody>
          <a:bodyPr wrap="square" lIns="0" tIns="0" rIns="0" bIns="0" rtlCol="0" anchor="t"/>
          <a:lstStyle/>
          <a:p>
            <a:pPr marL="0" indent="0">
              <a:buNone/>
            </a:pPr>
            <a:r>
              <a:rPr lang="en-US" sz="1500">
                <a:solidFill>
                  <a:srgbClr val="222B33"/>
                </a:solidFill>
                <a:latin typeface="Aptos" pitchFamily="34" charset="0"/>
                <a:ea typeface="Aptos" pitchFamily="34" charset="-122"/>
                <a:cs typeface="Aptos" pitchFamily="34" charset="-120"/>
              </a:rPr>
              <a:t>No witty hooks required. Real beats clever every time.</a:t>
            </a:r>
            <a:endParaRPr lang="en-US" sz="1500"/>
          </a:p>
        </p:txBody>
      </p:sp>
      <p:pic>
        <p:nvPicPr>
          <p:cNvPr id="15" name="Image 0" descr="tag_slate.png"/>
          <p:cNvPicPr>
            <a:picLocks noChangeAspect="1"/>
          </p:cNvPicPr>
          <p:nvPr/>
        </p:nvPicPr>
        <p:blipFill>
          <a:blip r:embed="rId3"/>
          <a:stretch>
            <a:fillRect/>
          </a:stretch>
        </p:blipFill>
        <p:spPr>
          <a:xfrm>
            <a:off x="10225735" y="6291072"/>
            <a:ext cx="1325880" cy="2927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panose="020B0004020202020204" pitchFamily="34" charset="0"/>
                <a:ea typeface="Aptos Light" pitchFamily="34" charset="-122"/>
                <a:cs typeface="Aptos Light" pitchFamily="34" charset="-120"/>
              </a:rPr>
              <a:t>The Whole Ask: </a:t>
            </a:r>
            <a:r>
              <a:rPr lang="en-US" sz="4800" i="1" dirty="0">
                <a:solidFill>
                  <a:srgbClr val="3A4B5B"/>
                </a:solidFill>
                <a:latin typeface="Aptos Light" panose="020B0004020202020204" pitchFamily="34" charset="0"/>
                <a:ea typeface="Aptos Light" pitchFamily="34" charset="-122"/>
                <a:cs typeface="Aptos Light" pitchFamily="34" charset="-120"/>
              </a:rPr>
              <a:t>Two Things</a:t>
            </a:r>
            <a:endParaRPr lang="en-US" sz="4800" i="1" dirty="0">
              <a:latin typeface="Aptos Light" panose="020B0004020202020204" pitchFamily="34" charset="0"/>
            </a:endParaRPr>
          </a:p>
        </p:txBody>
      </p:sp>
      <p:sp>
        <p:nvSpPr>
          <p:cNvPr id="3" name="Shape 1"/>
          <p:cNvSpPr/>
          <p:nvPr/>
        </p:nvSpPr>
        <p:spPr>
          <a:xfrm>
            <a:off x="640080" y="2128005"/>
            <a:ext cx="5303520" cy="3138475"/>
          </a:xfrm>
          <a:prstGeom prst="roundRect">
            <a:avLst>
              <a:gd name="adj" fmla="val 1622"/>
            </a:avLst>
          </a:prstGeom>
          <a:solidFill>
            <a:srgbClr val="EEF1F3"/>
          </a:solidFill>
          <a:ln w="9525">
            <a:solidFill>
              <a:srgbClr val="E1E5E8"/>
            </a:solidFill>
            <a:prstDash val="solid"/>
          </a:ln>
          <a:effectLst/>
        </p:spPr>
        <p:txBody>
          <a:bodyPr/>
          <a:lstStyle/>
          <a:p>
            <a:endParaRPr lang="en-US"/>
          </a:p>
        </p:txBody>
      </p:sp>
      <p:sp>
        <p:nvSpPr>
          <p:cNvPr id="4" name="Text 2"/>
          <p:cNvSpPr/>
          <p:nvPr/>
        </p:nvSpPr>
        <p:spPr>
          <a:xfrm>
            <a:off x="960120" y="2356605"/>
            <a:ext cx="822960" cy="822960"/>
          </a:xfrm>
          <a:prstGeom prst="rect">
            <a:avLst/>
          </a:prstGeom>
          <a:noFill/>
          <a:ln/>
        </p:spPr>
        <p:txBody>
          <a:bodyPr wrap="square" lIns="0" tIns="0" rIns="0" bIns="0" rtlCol="0" anchor="ctr"/>
          <a:lstStyle/>
          <a:p>
            <a:pPr marL="0" indent="0">
              <a:buNone/>
            </a:pPr>
            <a:r>
              <a:rPr lang="en-US" sz="4400" b="1" dirty="0">
                <a:solidFill>
                  <a:srgbClr val="FEB100"/>
                </a:solidFill>
                <a:latin typeface="Aptos" pitchFamily="34" charset="0"/>
                <a:ea typeface="Aptos" pitchFamily="34" charset="-122"/>
                <a:cs typeface="Aptos" pitchFamily="34" charset="-120"/>
              </a:rPr>
              <a:t>1</a:t>
            </a:r>
            <a:endParaRPr lang="en-US" sz="4400" dirty="0"/>
          </a:p>
        </p:txBody>
      </p:sp>
      <p:sp>
        <p:nvSpPr>
          <p:cNvPr id="5" name="Text 3"/>
          <p:cNvSpPr/>
          <p:nvPr/>
        </p:nvSpPr>
        <p:spPr>
          <a:xfrm>
            <a:off x="1761292" y="2594813"/>
            <a:ext cx="4881997" cy="548640"/>
          </a:xfrm>
          <a:prstGeom prst="rect">
            <a:avLst/>
          </a:prstGeom>
          <a:noFill/>
          <a:ln/>
        </p:spPr>
        <p:txBody>
          <a:bodyPr wrap="square" lIns="0" tIns="0" rIns="0" bIns="0" rtlCol="0" anchor="t"/>
          <a:lstStyle/>
          <a:p>
            <a:pPr marL="0" indent="0">
              <a:buNone/>
            </a:pPr>
            <a:r>
              <a:rPr lang="en-US" sz="2400" b="1" dirty="0">
                <a:solidFill>
                  <a:srgbClr val="3A4B5B"/>
                </a:solidFill>
                <a:latin typeface="Aptos" pitchFamily="34" charset="0"/>
                <a:ea typeface="Aptos" pitchFamily="34" charset="-122"/>
                <a:cs typeface="Aptos" pitchFamily="34" charset="-120"/>
              </a:rPr>
              <a:t>Comment in the first hour</a:t>
            </a:r>
            <a:endParaRPr lang="en-US" sz="2400" dirty="0"/>
          </a:p>
        </p:txBody>
      </p:sp>
      <p:sp>
        <p:nvSpPr>
          <p:cNvPr id="6" name="Text 4"/>
          <p:cNvSpPr/>
          <p:nvPr/>
        </p:nvSpPr>
        <p:spPr>
          <a:xfrm>
            <a:off x="1037610" y="3660353"/>
            <a:ext cx="4663440" cy="1371600"/>
          </a:xfrm>
          <a:prstGeom prst="rect">
            <a:avLst/>
          </a:prstGeom>
          <a:noFill/>
          <a:ln/>
        </p:spPr>
        <p:txBody>
          <a:bodyPr wrap="square" lIns="0" tIns="0" rIns="0" bIns="0" rtlCol="0" anchor="t"/>
          <a:lstStyle/>
          <a:p>
            <a:pPr marL="0" indent="0">
              <a:buNone/>
            </a:pPr>
            <a:r>
              <a:rPr lang="en-US" sz="2000" dirty="0">
                <a:solidFill>
                  <a:srgbClr val="222B33"/>
                </a:solidFill>
                <a:latin typeface="Aptos" pitchFamily="34" charset="0"/>
                <a:ea typeface="Aptos" pitchFamily="34" charset="-122"/>
                <a:cs typeface="Aptos" pitchFamily="34" charset="-120"/>
              </a:rPr>
              <a:t>When Dave or a teammate posts, leave a real comment within the hour. Two minutes. This is the most important thing on this slide.</a:t>
            </a:r>
            <a:endParaRPr lang="en-US" sz="2000" dirty="0"/>
          </a:p>
        </p:txBody>
      </p:sp>
      <p:sp>
        <p:nvSpPr>
          <p:cNvPr id="7" name="Shape 5"/>
          <p:cNvSpPr/>
          <p:nvPr/>
        </p:nvSpPr>
        <p:spPr>
          <a:xfrm>
            <a:off x="6400800" y="2128005"/>
            <a:ext cx="5303520" cy="3138475"/>
          </a:xfrm>
          <a:prstGeom prst="roundRect">
            <a:avLst>
              <a:gd name="adj" fmla="val 1622"/>
            </a:avLst>
          </a:prstGeom>
          <a:solidFill>
            <a:srgbClr val="3A4B5B"/>
          </a:solidFill>
          <a:ln w="9525">
            <a:solidFill>
              <a:srgbClr val="E1E5E8"/>
            </a:solidFill>
            <a:prstDash val="solid"/>
          </a:ln>
          <a:effectLst/>
        </p:spPr>
        <p:txBody>
          <a:bodyPr/>
          <a:lstStyle/>
          <a:p>
            <a:endParaRPr lang="en-US"/>
          </a:p>
        </p:txBody>
      </p:sp>
      <p:sp>
        <p:nvSpPr>
          <p:cNvPr id="9" name="Text 7"/>
          <p:cNvSpPr/>
          <p:nvPr/>
        </p:nvSpPr>
        <p:spPr>
          <a:xfrm>
            <a:off x="7892969" y="2594813"/>
            <a:ext cx="4511040" cy="548640"/>
          </a:xfrm>
          <a:prstGeom prst="rect">
            <a:avLst/>
          </a:prstGeom>
          <a:noFill/>
          <a:ln/>
        </p:spPr>
        <p:txBody>
          <a:bodyPr wrap="square" lIns="0" tIns="0" rIns="0" bIns="0" rtlCol="0" anchor="t"/>
          <a:lstStyle/>
          <a:p>
            <a:pPr marL="0" indent="0">
              <a:buNone/>
            </a:pPr>
            <a:r>
              <a:rPr lang="en-US" sz="2400" b="1" dirty="0">
                <a:solidFill>
                  <a:srgbClr val="FFFFFF"/>
                </a:solidFill>
                <a:latin typeface="Aptos" pitchFamily="34" charset="0"/>
                <a:ea typeface="Aptos" pitchFamily="34" charset="-122"/>
                <a:cs typeface="Aptos" pitchFamily="34" charset="-120"/>
              </a:rPr>
              <a:t>Post something real, </a:t>
            </a:r>
            <a:br>
              <a:rPr lang="en-US" sz="2400" b="1" dirty="0">
                <a:solidFill>
                  <a:srgbClr val="FFFFFF"/>
                </a:solidFill>
                <a:latin typeface="Aptos" pitchFamily="34" charset="0"/>
                <a:ea typeface="Aptos" pitchFamily="34" charset="-122"/>
                <a:cs typeface="Aptos" pitchFamily="34" charset="-120"/>
              </a:rPr>
            </a:br>
            <a:r>
              <a:rPr lang="en-US" sz="2400" b="1" dirty="0">
                <a:solidFill>
                  <a:srgbClr val="FFFFFF"/>
                </a:solidFill>
                <a:latin typeface="Aptos" pitchFamily="34" charset="0"/>
                <a:ea typeface="Aptos" pitchFamily="34" charset="-122"/>
                <a:cs typeface="Aptos" pitchFamily="34" charset="-120"/>
              </a:rPr>
              <a:t>with our help</a:t>
            </a:r>
            <a:endParaRPr lang="en-US" sz="2400" dirty="0"/>
          </a:p>
        </p:txBody>
      </p:sp>
      <p:sp>
        <p:nvSpPr>
          <p:cNvPr id="10" name="Text 8"/>
          <p:cNvSpPr/>
          <p:nvPr/>
        </p:nvSpPr>
        <p:spPr>
          <a:xfrm>
            <a:off x="6844630" y="3660353"/>
            <a:ext cx="4511040" cy="1371600"/>
          </a:xfrm>
          <a:prstGeom prst="rect">
            <a:avLst/>
          </a:prstGeom>
          <a:noFill/>
          <a:ln/>
        </p:spPr>
        <p:txBody>
          <a:bodyPr wrap="square" lIns="0" tIns="0" rIns="0" bIns="0" rtlCol="0" anchor="t"/>
          <a:lstStyle/>
          <a:p>
            <a:pPr marL="0" indent="0">
              <a:buNone/>
            </a:pPr>
            <a:r>
              <a:rPr lang="en-US" sz="2000" dirty="0">
                <a:solidFill>
                  <a:srgbClr val="DDE3E8"/>
                </a:solidFill>
                <a:latin typeface="Aptos" pitchFamily="34" charset="0"/>
                <a:ea typeface="Aptos" pitchFamily="34" charset="-122"/>
                <a:cs typeface="Aptos" pitchFamily="34" charset="-120"/>
              </a:rPr>
              <a:t>Once in a while, share something from the field: a job, a question you hear, a lesson. We hand you a starting point. You make it yours.</a:t>
            </a:r>
            <a:endParaRPr lang="en-US" sz="2000" dirty="0"/>
          </a:p>
        </p:txBody>
      </p:sp>
      <p:pic>
        <p:nvPicPr>
          <p:cNvPr id="11" name="Image 0" descr="tag_slate.png"/>
          <p:cNvPicPr>
            <a:picLocks noChangeAspect="1"/>
          </p:cNvPicPr>
          <p:nvPr/>
        </p:nvPicPr>
        <p:blipFill>
          <a:blip r:embed="rId3"/>
          <a:stretch>
            <a:fillRect/>
          </a:stretch>
        </p:blipFill>
        <p:spPr>
          <a:xfrm>
            <a:off x="10225735" y="6291072"/>
            <a:ext cx="1325880" cy="292754"/>
          </a:xfrm>
          <a:prstGeom prst="rect">
            <a:avLst/>
          </a:prstGeom>
        </p:spPr>
      </p:pic>
      <p:sp>
        <p:nvSpPr>
          <p:cNvPr id="12" name="Text 4">
            <a:extLst>
              <a:ext uri="{FF2B5EF4-FFF2-40B4-BE49-F238E27FC236}">
                <a16:creationId xmlns:a16="http://schemas.microsoft.com/office/drawing/2014/main" id="{08690971-DFB2-1037-1B81-A612BE9E4E04}"/>
              </a:ext>
            </a:extLst>
          </p:cNvPr>
          <p:cNvSpPr/>
          <p:nvPr/>
        </p:nvSpPr>
        <p:spPr>
          <a:xfrm>
            <a:off x="437956" y="2183997"/>
            <a:ext cx="1121212" cy="1069848"/>
          </a:xfrm>
          <a:prstGeom prst="rect">
            <a:avLst/>
          </a:prstGeom>
          <a:noFill/>
          <a:ln/>
        </p:spPr>
        <p:txBody>
          <a:bodyPr wrap="square" lIns="0" tIns="0" rIns="0" bIns="0" rtlCol="0" anchor="ctr"/>
          <a:lstStyle/>
          <a:p>
            <a:pPr marL="0" indent="0" algn="ctr">
              <a:buNone/>
            </a:pPr>
            <a:r>
              <a:rPr lang="en-US" sz="15000" b="1" dirty="0">
                <a:solidFill>
                  <a:srgbClr val="FEB100"/>
                </a:solidFill>
                <a:latin typeface="Aptos" pitchFamily="34" charset="0"/>
                <a:ea typeface="Aptos" pitchFamily="34" charset="-122"/>
                <a:cs typeface="Aptos" pitchFamily="34" charset="-120"/>
              </a:rPr>
              <a:t>1</a:t>
            </a:r>
            <a:endParaRPr lang="en-US" sz="15000" dirty="0"/>
          </a:p>
        </p:txBody>
      </p:sp>
      <p:sp>
        <p:nvSpPr>
          <p:cNvPr id="13" name="Text 4">
            <a:extLst>
              <a:ext uri="{FF2B5EF4-FFF2-40B4-BE49-F238E27FC236}">
                <a16:creationId xmlns:a16="http://schemas.microsoft.com/office/drawing/2014/main" id="{A2351920-B05F-4626-8EF2-0AF5ECD2D3AA}"/>
              </a:ext>
            </a:extLst>
          </p:cNvPr>
          <p:cNvSpPr/>
          <p:nvPr/>
        </p:nvSpPr>
        <p:spPr>
          <a:xfrm>
            <a:off x="6289953" y="2214409"/>
            <a:ext cx="1121212" cy="1069848"/>
          </a:xfrm>
          <a:prstGeom prst="rect">
            <a:avLst/>
          </a:prstGeom>
          <a:noFill/>
          <a:ln/>
        </p:spPr>
        <p:txBody>
          <a:bodyPr wrap="square" lIns="0" tIns="0" rIns="0" bIns="0" rtlCol="0" anchor="ctr"/>
          <a:lstStyle/>
          <a:p>
            <a:pPr marL="0" indent="0" algn="ctr">
              <a:buNone/>
            </a:pPr>
            <a:r>
              <a:rPr lang="en-US" sz="15000" b="1" dirty="0">
                <a:solidFill>
                  <a:srgbClr val="FEB100"/>
                </a:solidFill>
                <a:latin typeface="Aptos" pitchFamily="34" charset="0"/>
                <a:ea typeface="Aptos" pitchFamily="34" charset="-122"/>
                <a:cs typeface="Aptos" pitchFamily="34" charset="-120"/>
              </a:rPr>
              <a:t>2</a:t>
            </a:r>
            <a:endParaRPr lang="en-US" sz="15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
            <a:extLst>
              <a:ext uri="{FF2B5EF4-FFF2-40B4-BE49-F238E27FC236}">
                <a16:creationId xmlns:a16="http://schemas.microsoft.com/office/drawing/2014/main" id="{26C940BC-96D7-6A45-C17A-737C0F4CF38B}"/>
              </a:ext>
            </a:extLst>
          </p:cNvPr>
          <p:cNvSpPr/>
          <p:nvPr/>
        </p:nvSpPr>
        <p:spPr>
          <a:xfrm>
            <a:off x="640080" y="1783080"/>
            <a:ext cx="4572000" cy="4114800"/>
          </a:xfrm>
          <a:prstGeom prst="roundRect">
            <a:avLst>
              <a:gd name="adj" fmla="val 1333"/>
            </a:avLst>
          </a:prstGeom>
          <a:noFill/>
          <a:ln w="9525">
            <a:solidFill>
              <a:srgbClr val="FEB100"/>
            </a:solidFill>
            <a:prstDash val="solid"/>
          </a:ln>
          <a:effectLst/>
        </p:spPr>
        <p:txBody>
          <a:bodyPr/>
          <a:lstStyle/>
          <a:p>
            <a:endParaRPr lang="en-US"/>
          </a:p>
        </p:txBody>
      </p:sp>
      <p:sp>
        <p:nvSpPr>
          <p:cNvPr id="7" name="Shape 5">
            <a:extLst>
              <a:ext uri="{FF2B5EF4-FFF2-40B4-BE49-F238E27FC236}">
                <a16:creationId xmlns:a16="http://schemas.microsoft.com/office/drawing/2014/main" id="{AD922EEB-614A-A330-BB50-C3279BDF7BFB}"/>
              </a:ext>
            </a:extLst>
          </p:cNvPr>
          <p:cNvSpPr/>
          <p:nvPr/>
        </p:nvSpPr>
        <p:spPr>
          <a:xfrm>
            <a:off x="5760720" y="1783080"/>
            <a:ext cx="5715000" cy="4114800"/>
          </a:xfrm>
          <a:prstGeom prst="roundRect">
            <a:avLst>
              <a:gd name="adj" fmla="val 1333"/>
            </a:avLst>
          </a:prstGeom>
          <a:solidFill>
            <a:srgbClr val="FFF8EC"/>
          </a:solidFill>
          <a:ln w="9525">
            <a:noFill/>
            <a:prstDash val="solid"/>
          </a:ln>
          <a:effectLst/>
        </p:spPr>
        <p:txBody>
          <a:bodyPr/>
          <a:lstStyle/>
          <a:p>
            <a:endParaRPr lang="en-US"/>
          </a:p>
        </p:txBody>
      </p:sp>
      <p:sp>
        <p:nvSpPr>
          <p:cNvPr id="8" name="Text 0">
            <a:extLst>
              <a:ext uri="{FF2B5EF4-FFF2-40B4-BE49-F238E27FC236}">
                <a16:creationId xmlns:a16="http://schemas.microsoft.com/office/drawing/2014/main" id="{2797D93A-045E-164A-BB13-2C9FDFFED4F6}"/>
              </a:ext>
            </a:extLst>
          </p:cNvPr>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pitchFamily="34" charset="0"/>
                <a:ea typeface="Aptos Light" pitchFamily="34" charset="-122"/>
                <a:cs typeface="Aptos Light" pitchFamily="34" charset="-120"/>
              </a:rPr>
              <a:t>Answer One Question, That's Your Post</a:t>
            </a:r>
            <a:endParaRPr lang="en-US" sz="4800" dirty="0"/>
          </a:p>
        </p:txBody>
      </p:sp>
      <p:sp>
        <p:nvSpPr>
          <p:cNvPr id="9" name="Diagonal Stripe 8">
            <a:extLst>
              <a:ext uri="{FF2B5EF4-FFF2-40B4-BE49-F238E27FC236}">
                <a16:creationId xmlns:a16="http://schemas.microsoft.com/office/drawing/2014/main" id="{87A39470-ECF9-44D2-0048-A254F5775B52}"/>
              </a:ext>
            </a:extLst>
          </p:cNvPr>
          <p:cNvSpPr/>
          <p:nvPr/>
        </p:nvSpPr>
        <p:spPr>
          <a:xfrm rot="10800000">
            <a:off x="10544371" y="5168555"/>
            <a:ext cx="931349" cy="729325"/>
          </a:xfrm>
          <a:prstGeom prst="diagStrip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Diagonal Stripe 9">
            <a:extLst>
              <a:ext uri="{FF2B5EF4-FFF2-40B4-BE49-F238E27FC236}">
                <a16:creationId xmlns:a16="http://schemas.microsoft.com/office/drawing/2014/main" id="{F9464365-8150-56BB-033F-CB4ABF2929FB}"/>
              </a:ext>
            </a:extLst>
          </p:cNvPr>
          <p:cNvSpPr/>
          <p:nvPr/>
        </p:nvSpPr>
        <p:spPr>
          <a:xfrm rot="10800000">
            <a:off x="4280731" y="5168555"/>
            <a:ext cx="931349" cy="729325"/>
          </a:xfrm>
          <a:prstGeom prst="diagStrip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54022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3A4B5B"/>
        </a:solidFill>
        <a:effectLst/>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lIns="0" tIns="0" rIns="0" bIns="0" rtlCol="0" anchor="ctr"/>
          <a:lstStyle/>
          <a:p>
            <a:pPr marL="0" indent="0">
              <a:buNone/>
            </a:pPr>
            <a:r>
              <a:rPr lang="en-US" sz="4800" dirty="0">
                <a:solidFill>
                  <a:srgbClr val="FFFFFF"/>
                </a:solidFill>
                <a:latin typeface="Aptos Light" panose="020B0004020202020204" pitchFamily="34" charset="0"/>
                <a:ea typeface="Aptos Light" pitchFamily="34" charset="-122"/>
                <a:cs typeface="Aptos Light" pitchFamily="34" charset="-120"/>
              </a:rPr>
              <a:t>Why the First Hour Matters</a:t>
            </a:r>
            <a:endParaRPr lang="en-US" sz="4800" dirty="0">
              <a:latin typeface="Aptos Light" panose="020B0004020202020204" pitchFamily="34" charset="0"/>
            </a:endParaRPr>
          </a:p>
        </p:txBody>
      </p:sp>
      <p:sp>
        <p:nvSpPr>
          <p:cNvPr id="3" name="Text 1"/>
          <p:cNvSpPr/>
          <p:nvPr/>
        </p:nvSpPr>
        <p:spPr>
          <a:xfrm>
            <a:off x="1727510" y="1812642"/>
            <a:ext cx="2225040" cy="1828800"/>
          </a:xfrm>
          <a:prstGeom prst="rect">
            <a:avLst/>
          </a:prstGeom>
          <a:noFill/>
          <a:ln/>
        </p:spPr>
        <p:txBody>
          <a:bodyPr wrap="square" lIns="0" tIns="0" rIns="0" bIns="0" rtlCol="0" anchor="ctr"/>
          <a:lstStyle/>
          <a:p>
            <a:pPr marL="0" indent="0">
              <a:buNone/>
            </a:pPr>
            <a:r>
              <a:rPr lang="en-US" sz="14000" b="1" dirty="0">
                <a:solidFill>
                  <a:srgbClr val="FEB100"/>
                </a:solidFill>
                <a:latin typeface="Aptos" pitchFamily="34" charset="0"/>
                <a:ea typeface="Aptos" pitchFamily="34" charset="-122"/>
                <a:cs typeface="Aptos" pitchFamily="34" charset="-120"/>
              </a:rPr>
              <a:t>5</a:t>
            </a:r>
            <a:r>
              <a:rPr lang="en-US" sz="13000" b="1" dirty="0">
                <a:solidFill>
                  <a:srgbClr val="FEB100"/>
                </a:solidFill>
                <a:latin typeface="Aptos" pitchFamily="34" charset="0"/>
                <a:ea typeface="Aptos" pitchFamily="34" charset="-122"/>
                <a:cs typeface="Aptos" pitchFamily="34" charset="-120"/>
              </a:rPr>
              <a:t>x</a:t>
            </a:r>
            <a:endParaRPr lang="en-US" sz="13000" dirty="0"/>
          </a:p>
        </p:txBody>
      </p:sp>
      <p:sp>
        <p:nvSpPr>
          <p:cNvPr id="4" name="Text 2"/>
          <p:cNvSpPr/>
          <p:nvPr/>
        </p:nvSpPr>
        <p:spPr>
          <a:xfrm>
            <a:off x="3750986" y="1782791"/>
            <a:ext cx="7371651" cy="2194560"/>
          </a:xfrm>
          <a:prstGeom prst="rect">
            <a:avLst/>
          </a:prstGeom>
          <a:noFill/>
          <a:ln/>
        </p:spPr>
        <p:txBody>
          <a:bodyPr wrap="square" lIns="0" tIns="0" rIns="0" bIns="0" rtlCol="0" anchor="ctr"/>
          <a:lstStyle/>
          <a:p>
            <a:pPr marL="0" indent="0">
              <a:lnSpc>
                <a:spcPct val="110000"/>
              </a:lnSpc>
              <a:buNone/>
            </a:pPr>
            <a:r>
              <a:rPr lang="en-US" sz="9600" b="1" dirty="0">
                <a:solidFill>
                  <a:srgbClr val="FFFFFF"/>
                </a:solidFill>
                <a:latin typeface="Aptos"/>
                <a:ea typeface="Aptos" pitchFamily="34" charset="-122"/>
                <a:cs typeface="Aptos" pitchFamily="34" charset="-120"/>
              </a:rPr>
              <a:t>More Reach</a:t>
            </a:r>
            <a:endParaRPr lang="en-US" sz="9600" dirty="0">
              <a:latin typeface="Aptos"/>
            </a:endParaRPr>
          </a:p>
        </p:txBody>
      </p:sp>
      <p:sp>
        <p:nvSpPr>
          <p:cNvPr id="5" name="Text 3"/>
          <p:cNvSpPr/>
          <p:nvPr/>
        </p:nvSpPr>
        <p:spPr>
          <a:xfrm>
            <a:off x="0" y="4678113"/>
            <a:ext cx="12192000" cy="914400"/>
          </a:xfrm>
          <a:prstGeom prst="rect">
            <a:avLst/>
          </a:prstGeom>
          <a:noFill/>
          <a:ln/>
        </p:spPr>
        <p:txBody>
          <a:bodyPr wrap="square" lIns="0" tIns="0" rIns="0" bIns="0" rtlCol="0" anchor="ctr"/>
          <a:lstStyle/>
          <a:p>
            <a:pPr marL="0" indent="0" algn="ctr">
              <a:buNone/>
            </a:pPr>
            <a:r>
              <a:rPr lang="en-US" sz="2000" dirty="0">
                <a:solidFill>
                  <a:srgbClr val="DDE3E8"/>
                </a:solidFill>
                <a:latin typeface="Aptos" pitchFamily="34" charset="0"/>
                <a:ea typeface="Aptos" pitchFamily="34" charset="-122"/>
                <a:cs typeface="Aptos" pitchFamily="34" charset="-120"/>
              </a:rPr>
              <a:t>LinkedIn tests every post on a tiny slice of the audience first. Early comments tell it the post is </a:t>
            </a:r>
            <a:br>
              <a:rPr lang="en-US" sz="2000" dirty="0">
                <a:solidFill>
                  <a:srgbClr val="DDE3E8"/>
                </a:solidFill>
                <a:latin typeface="Aptos" pitchFamily="34" charset="0"/>
                <a:ea typeface="Aptos" pitchFamily="34" charset="-122"/>
                <a:cs typeface="Aptos" pitchFamily="34" charset="-120"/>
              </a:rPr>
            </a:br>
            <a:r>
              <a:rPr lang="en-US" sz="2000" dirty="0">
                <a:solidFill>
                  <a:srgbClr val="DDE3E8"/>
                </a:solidFill>
                <a:latin typeface="Aptos" pitchFamily="34" charset="0"/>
                <a:ea typeface="Aptos" pitchFamily="34" charset="-122"/>
                <a:cs typeface="Aptos" pitchFamily="34" charset="-120"/>
              </a:rPr>
              <a:t>worth showing to everyone else. Your comment is the lever. It costs two minutes and it's free.</a:t>
            </a:r>
            <a:endParaRPr lang="en-US" sz="2000" dirty="0"/>
          </a:p>
        </p:txBody>
      </p:sp>
      <p:pic>
        <p:nvPicPr>
          <p:cNvPr id="6" name="Image 0" descr="mono_white.png"/>
          <p:cNvPicPr>
            <a:picLocks noChangeAspect="1"/>
          </p:cNvPicPr>
          <p:nvPr/>
        </p:nvPicPr>
        <p:blipFill>
          <a:blip r:embed="rId3"/>
          <a:stretch>
            <a:fillRect/>
          </a:stretch>
        </p:blipFill>
        <p:spPr>
          <a:xfrm>
            <a:off x="10984687" y="5989320"/>
            <a:ext cx="566928" cy="448751"/>
          </a:xfrm>
          <a:prstGeom prst="rect">
            <a:avLst/>
          </a:prstGeom>
        </p:spPr>
      </p:pic>
      <p:sp>
        <p:nvSpPr>
          <p:cNvPr id="7" name="Text 2">
            <a:extLst>
              <a:ext uri="{FF2B5EF4-FFF2-40B4-BE49-F238E27FC236}">
                <a16:creationId xmlns:a16="http://schemas.microsoft.com/office/drawing/2014/main" id="{654E1B0F-7D7D-3F37-9562-3B12BDD79085}"/>
              </a:ext>
            </a:extLst>
          </p:cNvPr>
          <p:cNvSpPr/>
          <p:nvPr/>
        </p:nvSpPr>
        <p:spPr>
          <a:xfrm>
            <a:off x="1873956" y="2754489"/>
            <a:ext cx="9177559" cy="2194560"/>
          </a:xfrm>
          <a:prstGeom prst="rect">
            <a:avLst/>
          </a:prstGeom>
          <a:noFill/>
          <a:ln/>
        </p:spPr>
        <p:txBody>
          <a:bodyPr wrap="square" lIns="0" tIns="0" rIns="0" bIns="0" rtlCol="0" anchor="ctr"/>
          <a:lstStyle/>
          <a:p>
            <a:pPr marL="0" indent="0">
              <a:lnSpc>
                <a:spcPct val="110000"/>
              </a:lnSpc>
              <a:buNone/>
            </a:pPr>
            <a:r>
              <a:rPr lang="en-US" sz="2500" dirty="0">
                <a:solidFill>
                  <a:srgbClr val="DDE3E8"/>
                </a:solidFill>
                <a:latin typeface="Aptos"/>
                <a:ea typeface="Aptos" pitchFamily="34" charset="-122"/>
                <a:cs typeface="Aptos" pitchFamily="34" charset="-120"/>
              </a:rPr>
              <a:t>When </a:t>
            </a:r>
            <a:r>
              <a:rPr lang="en-US" sz="2500" b="1" dirty="0">
                <a:solidFill>
                  <a:schemeClr val="bg1"/>
                </a:solidFill>
                <a:latin typeface="Aptos"/>
                <a:ea typeface="Aptos" pitchFamily="34" charset="-122"/>
                <a:cs typeface="Aptos" pitchFamily="34" charset="-120"/>
              </a:rPr>
              <a:t>three or more</a:t>
            </a:r>
            <a:r>
              <a:rPr lang="en-US" sz="2500" dirty="0">
                <a:solidFill>
                  <a:schemeClr val="bg2"/>
                </a:solidFill>
                <a:latin typeface="Aptos"/>
                <a:ea typeface="Aptos" pitchFamily="34" charset="-122"/>
                <a:cs typeface="Aptos" pitchFamily="34" charset="-120"/>
              </a:rPr>
              <a:t> people </a:t>
            </a:r>
            <a:r>
              <a:rPr lang="en-US" sz="2500" dirty="0">
                <a:solidFill>
                  <a:srgbClr val="DDE3E8"/>
                </a:solidFill>
                <a:latin typeface="Aptos"/>
                <a:ea typeface="Aptos" pitchFamily="34" charset="-122"/>
                <a:cs typeface="Aptos" pitchFamily="34" charset="-120"/>
              </a:rPr>
              <a:t>comment in the </a:t>
            </a:r>
            <a:r>
              <a:rPr lang="en-US" sz="2500" b="1" dirty="0">
                <a:solidFill>
                  <a:schemeClr val="bg1"/>
                </a:solidFill>
                <a:latin typeface="Aptos"/>
                <a:ea typeface="Aptos" pitchFamily="34" charset="-122"/>
                <a:cs typeface="Aptos" pitchFamily="34" charset="-120"/>
              </a:rPr>
              <a:t>first 60 minutes</a:t>
            </a:r>
            <a:r>
              <a:rPr lang="en-US" sz="2500" dirty="0">
                <a:solidFill>
                  <a:srgbClr val="DDE3E8"/>
                </a:solidFill>
                <a:latin typeface="Aptos"/>
                <a:ea typeface="Aptos" pitchFamily="34" charset="-122"/>
                <a:cs typeface="Aptos" pitchFamily="34" charset="-120"/>
              </a:rPr>
              <a:t>.</a:t>
            </a:r>
            <a:endParaRPr lang="en-US" sz="2500" dirty="0">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pitchFamily="34" charset="0"/>
                <a:ea typeface="Aptos Light" pitchFamily="34" charset="-122"/>
                <a:cs typeface="Aptos Light" pitchFamily="34" charset="-120"/>
              </a:rPr>
              <a:t>Ways to Start, With Examples</a:t>
            </a:r>
          </a:p>
          <a:p>
            <a:pPr marL="0" indent="0">
              <a:buNone/>
            </a:pPr>
            <a:endParaRPr lang="en-US" sz="4800" dirty="0">
              <a:solidFill>
                <a:srgbClr val="3A4B5B"/>
              </a:solidFill>
              <a:latin typeface="Aptos Light" pitchFamily="34" charset="0"/>
              <a:ea typeface="Aptos Light" pitchFamily="34" charset="-122"/>
              <a:cs typeface="Aptos Light" pitchFamily="34" charset="-120"/>
            </a:endParaRPr>
          </a:p>
        </p:txBody>
      </p:sp>
      <p:sp>
        <p:nvSpPr>
          <p:cNvPr id="14" name="Text 12"/>
          <p:cNvSpPr/>
          <p:nvPr/>
        </p:nvSpPr>
        <p:spPr>
          <a:xfrm>
            <a:off x="6675120" y="2624328"/>
            <a:ext cx="4663440" cy="2971800"/>
          </a:xfrm>
          <a:prstGeom prst="rect">
            <a:avLst/>
          </a:prstGeom>
          <a:noFill/>
          <a:ln/>
        </p:spPr>
        <p:txBody>
          <a:bodyPr wrap="square" lIns="0" tIns="0" rIns="0" bIns="0" rtlCol="0" anchor="t"/>
          <a:lstStyle/>
          <a:p>
            <a:pPr marL="447675" indent="-447675">
              <a:lnSpc>
                <a:spcPct val="105000"/>
              </a:lnSpc>
              <a:spcAft>
                <a:spcPts val="600"/>
              </a:spcAft>
              <a:buSzPct val="75000"/>
              <a:buBlip>
                <a:blip r:embed="rId3">
                  <a:extLst>
                    <a:ext uri="{96DAC541-7B7A-43D3-8B79-37D633B846F1}">
                      <asvg:svgBlip xmlns:asvg="http://schemas.microsoft.com/office/drawing/2016/SVG/main" r:embed="rId4"/>
                    </a:ext>
                  </a:extLst>
                </a:blip>
              </a:buBlip>
            </a:pPr>
            <a:r>
              <a:rPr lang="en-US" sz="2000" dirty="0">
                <a:solidFill>
                  <a:srgbClr val="222B33"/>
                </a:solidFill>
                <a:latin typeface="Aptos" pitchFamily="34" charset="0"/>
                <a:ea typeface="Aptos" pitchFamily="34" charset="-122"/>
                <a:cs typeface="Aptos" pitchFamily="34" charset="-120"/>
              </a:rPr>
              <a:t>Shoutout to the team at this distributor</a:t>
            </a:r>
          </a:p>
          <a:p>
            <a:pPr marL="447675" indent="-447675">
              <a:lnSpc>
                <a:spcPct val="105000"/>
              </a:lnSpc>
              <a:spcAft>
                <a:spcPts val="600"/>
              </a:spcAft>
              <a:buSzPct val="75000"/>
              <a:buBlip>
                <a:blip r:embed="rId3">
                  <a:extLst>
                    <a:ext uri="{96DAC541-7B7A-43D3-8B79-37D633B846F1}">
                      <asvg:svgBlip xmlns:asvg="http://schemas.microsoft.com/office/drawing/2016/SVG/main" r:embed="rId4"/>
                    </a:ext>
                  </a:extLst>
                </a:blip>
              </a:buBlip>
            </a:pPr>
            <a:r>
              <a:rPr lang="en-US" sz="2000" dirty="0">
                <a:solidFill>
                  <a:srgbClr val="222B33"/>
                </a:solidFill>
                <a:latin typeface="Aptos" pitchFamily="34" charset="0"/>
                <a:ea typeface="Aptos" pitchFamily="34" charset="-122"/>
                <a:cs typeface="Aptos" pitchFamily="34" charset="-120"/>
              </a:rPr>
              <a:t>They don't just stock the product, they teach their counter staff to sell the finished space, not the SKU</a:t>
            </a:r>
          </a:p>
          <a:p>
            <a:pPr marL="904875" lvl="1" indent="-447675">
              <a:lnSpc>
                <a:spcPct val="105000"/>
              </a:lnSpc>
              <a:spcAft>
                <a:spcPts val="600"/>
              </a:spcAft>
              <a:buSzPct val="75000"/>
              <a:buBlip>
                <a:blip r:embed="rId5">
                  <a:extLst>
                    <a:ext uri="{96DAC541-7B7A-43D3-8B79-37D633B846F1}">
                      <asvg:svgBlip xmlns:asvg="http://schemas.microsoft.com/office/drawing/2016/SVG/main" r:embed="rId6"/>
                    </a:ext>
                  </a:extLst>
                </a:blip>
              </a:buBlip>
            </a:pPr>
            <a:r>
              <a:rPr lang="en-US" sz="2000" dirty="0">
                <a:solidFill>
                  <a:srgbClr val="222B33"/>
                </a:solidFill>
                <a:latin typeface="Aptos" pitchFamily="34" charset="0"/>
                <a:ea typeface="Aptos" pitchFamily="34" charset="-122"/>
                <a:cs typeface="Aptos" pitchFamily="34" charset="-120"/>
              </a:rPr>
              <a:t>That’s the difference between moving boxes and building a category</a:t>
            </a:r>
          </a:p>
          <a:p>
            <a:pPr marL="0" indent="0">
              <a:lnSpc>
                <a:spcPct val="105000"/>
              </a:lnSpc>
              <a:spcAft>
                <a:spcPts val="600"/>
              </a:spcAft>
              <a:buNone/>
            </a:pPr>
            <a:endParaRPr lang="en-US" dirty="0">
              <a:solidFill>
                <a:srgbClr val="222B33"/>
              </a:solidFill>
              <a:latin typeface="Aptos" pitchFamily="34" charset="0"/>
              <a:ea typeface="Aptos" pitchFamily="34" charset="-122"/>
              <a:cs typeface="Aptos" pitchFamily="34" charset="-120"/>
            </a:endParaRPr>
          </a:p>
        </p:txBody>
      </p:sp>
      <p:pic>
        <p:nvPicPr>
          <p:cNvPr id="15" name="Image 0" descr="tag_slate.png"/>
          <p:cNvPicPr>
            <a:picLocks noChangeAspect="1"/>
          </p:cNvPicPr>
          <p:nvPr/>
        </p:nvPicPr>
        <p:blipFill>
          <a:blip r:embed="rId7"/>
          <a:stretch>
            <a:fillRect/>
          </a:stretch>
        </p:blipFill>
        <p:spPr>
          <a:xfrm>
            <a:off x="10225735" y="6291072"/>
            <a:ext cx="1325880" cy="292754"/>
          </a:xfrm>
          <a:prstGeom prst="rect">
            <a:avLst/>
          </a:prstGeom>
        </p:spPr>
      </p:pic>
      <p:cxnSp>
        <p:nvCxnSpPr>
          <p:cNvPr id="17" name="Straight Connector 16">
            <a:extLst>
              <a:ext uri="{FF2B5EF4-FFF2-40B4-BE49-F238E27FC236}">
                <a16:creationId xmlns:a16="http://schemas.microsoft.com/office/drawing/2014/main" id="{2F3322EB-1746-5BA7-A084-5D0A4D65A2B3}"/>
              </a:ext>
            </a:extLst>
          </p:cNvPr>
          <p:cNvCxnSpPr/>
          <p:nvPr/>
        </p:nvCxnSpPr>
        <p:spPr>
          <a:xfrm>
            <a:off x="5766217" y="1911096"/>
            <a:ext cx="0" cy="406713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1">
            <a:extLst>
              <a:ext uri="{FF2B5EF4-FFF2-40B4-BE49-F238E27FC236}">
                <a16:creationId xmlns:a16="http://schemas.microsoft.com/office/drawing/2014/main" id="{BDD08259-A75D-1FE0-D825-3C62CD5E9298}"/>
              </a:ext>
            </a:extLst>
          </p:cNvPr>
          <p:cNvSpPr/>
          <p:nvPr/>
        </p:nvSpPr>
        <p:spPr>
          <a:xfrm>
            <a:off x="6675120" y="1911096"/>
            <a:ext cx="5212080" cy="365760"/>
          </a:xfrm>
          <a:prstGeom prst="rect">
            <a:avLst/>
          </a:prstGeom>
          <a:noFill/>
          <a:ln/>
        </p:spPr>
        <p:txBody>
          <a:bodyPr wrap="square" lIns="0" tIns="0" rIns="0" bIns="0" rtlCol="0" anchor="ctr"/>
          <a:lstStyle/>
          <a:p>
            <a:pPr marL="0" indent="0">
              <a:buNone/>
            </a:pPr>
            <a:r>
              <a:rPr lang="en-US" sz="2800" b="1" dirty="0">
                <a:solidFill>
                  <a:srgbClr val="3A4B5B"/>
                </a:solidFill>
                <a:latin typeface="Aptos SemiBold" panose="020B0004020202020204" pitchFamily="34" charset="0"/>
                <a:ea typeface="Aptos" pitchFamily="34" charset="-122"/>
                <a:cs typeface="Aptos" pitchFamily="34" charset="-120"/>
              </a:rPr>
              <a:t>The Job Site Observation </a:t>
            </a:r>
            <a:endParaRPr lang="en-US" sz="2800" b="1" dirty="0">
              <a:solidFill>
                <a:srgbClr val="3A4B5B"/>
              </a:solidFill>
              <a:latin typeface="Aptos SemiBold" panose="020B0004020202020204" pitchFamily="34" charset="0"/>
            </a:endParaRPr>
          </a:p>
        </p:txBody>
      </p:sp>
      <p:sp>
        <p:nvSpPr>
          <p:cNvPr id="19" name="Text 12">
            <a:extLst>
              <a:ext uri="{FF2B5EF4-FFF2-40B4-BE49-F238E27FC236}">
                <a16:creationId xmlns:a16="http://schemas.microsoft.com/office/drawing/2014/main" id="{427F12FA-C6FC-0BF5-CD56-5D412406CB93}"/>
              </a:ext>
            </a:extLst>
          </p:cNvPr>
          <p:cNvSpPr/>
          <p:nvPr/>
        </p:nvSpPr>
        <p:spPr>
          <a:xfrm>
            <a:off x="853440" y="2624328"/>
            <a:ext cx="4663440" cy="2971800"/>
          </a:xfrm>
          <a:prstGeom prst="rect">
            <a:avLst/>
          </a:prstGeom>
          <a:noFill/>
          <a:ln/>
        </p:spPr>
        <p:txBody>
          <a:bodyPr wrap="square" lIns="0" tIns="0" rIns="0" bIns="0" rtlCol="0" anchor="t"/>
          <a:lstStyle/>
          <a:p>
            <a:pPr marL="447675" indent="-447675">
              <a:lnSpc>
                <a:spcPct val="105000"/>
              </a:lnSpc>
              <a:spcAft>
                <a:spcPts val="600"/>
              </a:spcAft>
              <a:buSzPct val="75000"/>
              <a:buBlip>
                <a:blip r:embed="rId3">
                  <a:extLst>
                    <a:ext uri="{96DAC541-7B7A-43D3-8B79-37D633B846F1}">
                      <asvg:svgBlip xmlns:asvg="http://schemas.microsoft.com/office/drawing/2016/SVG/main" r:embed="rId4"/>
                    </a:ext>
                  </a:extLst>
                </a:blip>
              </a:buBlip>
            </a:pPr>
            <a:r>
              <a:rPr lang="en-US" sz="2000" dirty="0">
                <a:solidFill>
                  <a:srgbClr val="222B33"/>
                </a:solidFill>
                <a:latin typeface="Aptos" pitchFamily="34" charset="0"/>
                <a:ea typeface="Aptos" pitchFamily="34" charset="-122"/>
                <a:cs typeface="Aptos" pitchFamily="34" charset="-120"/>
              </a:rPr>
              <a:t>Shoutout to the team at this distributor</a:t>
            </a:r>
          </a:p>
          <a:p>
            <a:pPr marL="447675" indent="-447675">
              <a:lnSpc>
                <a:spcPct val="105000"/>
              </a:lnSpc>
              <a:spcAft>
                <a:spcPts val="600"/>
              </a:spcAft>
              <a:buSzPct val="75000"/>
              <a:buBlip>
                <a:blip r:embed="rId3">
                  <a:extLst>
                    <a:ext uri="{96DAC541-7B7A-43D3-8B79-37D633B846F1}">
                      <asvg:svgBlip xmlns:asvg="http://schemas.microsoft.com/office/drawing/2016/SVG/main" r:embed="rId4"/>
                    </a:ext>
                  </a:extLst>
                </a:blip>
              </a:buBlip>
            </a:pPr>
            <a:r>
              <a:rPr lang="en-US" sz="2000" dirty="0">
                <a:solidFill>
                  <a:srgbClr val="222B33"/>
                </a:solidFill>
                <a:latin typeface="Aptos" pitchFamily="34" charset="0"/>
                <a:ea typeface="Aptos" pitchFamily="34" charset="-122"/>
                <a:cs typeface="Aptos" pitchFamily="34" charset="-120"/>
              </a:rPr>
              <a:t>They don't just stock the product, they teach their counter staff to sell the finished space, not the SKU</a:t>
            </a:r>
          </a:p>
          <a:p>
            <a:pPr marL="904875" lvl="1" indent="-447675">
              <a:lnSpc>
                <a:spcPct val="105000"/>
              </a:lnSpc>
              <a:spcAft>
                <a:spcPts val="600"/>
              </a:spcAft>
              <a:buSzPct val="75000"/>
              <a:buBlip>
                <a:blip r:embed="rId5">
                  <a:extLst>
                    <a:ext uri="{96DAC541-7B7A-43D3-8B79-37D633B846F1}">
                      <asvg:svgBlip xmlns:asvg="http://schemas.microsoft.com/office/drawing/2016/SVG/main" r:embed="rId6"/>
                    </a:ext>
                  </a:extLst>
                </a:blip>
              </a:buBlip>
            </a:pPr>
            <a:r>
              <a:rPr lang="en-US" sz="2000" dirty="0">
                <a:solidFill>
                  <a:srgbClr val="222B33"/>
                </a:solidFill>
                <a:latin typeface="Aptos" pitchFamily="34" charset="0"/>
                <a:ea typeface="Aptos" pitchFamily="34" charset="-122"/>
                <a:cs typeface="Aptos" pitchFamily="34" charset="-120"/>
              </a:rPr>
              <a:t>That’s the difference between moving boxes and building a category</a:t>
            </a:r>
          </a:p>
          <a:p>
            <a:pPr marL="0" indent="0">
              <a:lnSpc>
                <a:spcPct val="105000"/>
              </a:lnSpc>
              <a:spcAft>
                <a:spcPts val="600"/>
              </a:spcAft>
              <a:buNone/>
            </a:pPr>
            <a:endParaRPr lang="en-US" dirty="0">
              <a:solidFill>
                <a:srgbClr val="222B33"/>
              </a:solidFill>
              <a:latin typeface="Aptos" pitchFamily="34" charset="0"/>
              <a:ea typeface="Aptos" pitchFamily="34" charset="-122"/>
              <a:cs typeface="Aptos" pitchFamily="34" charset="-120"/>
            </a:endParaRPr>
          </a:p>
        </p:txBody>
      </p:sp>
      <p:sp>
        <p:nvSpPr>
          <p:cNvPr id="20" name="Text 1">
            <a:extLst>
              <a:ext uri="{FF2B5EF4-FFF2-40B4-BE49-F238E27FC236}">
                <a16:creationId xmlns:a16="http://schemas.microsoft.com/office/drawing/2014/main" id="{F2470D71-2D65-724B-4084-7FF3B3711C23}"/>
              </a:ext>
            </a:extLst>
          </p:cNvPr>
          <p:cNvSpPr/>
          <p:nvPr/>
        </p:nvSpPr>
        <p:spPr>
          <a:xfrm>
            <a:off x="853440" y="1911096"/>
            <a:ext cx="5212080" cy="365760"/>
          </a:xfrm>
          <a:prstGeom prst="rect">
            <a:avLst/>
          </a:prstGeom>
          <a:noFill/>
          <a:ln/>
        </p:spPr>
        <p:txBody>
          <a:bodyPr wrap="square" lIns="0" tIns="0" rIns="0" bIns="0" rtlCol="0" anchor="ctr"/>
          <a:lstStyle/>
          <a:p>
            <a:pPr marL="0" indent="0">
              <a:buNone/>
            </a:pPr>
            <a:r>
              <a:rPr lang="en-US" sz="2800" b="1" dirty="0">
                <a:solidFill>
                  <a:srgbClr val="3A4B5B"/>
                </a:solidFill>
                <a:latin typeface="Aptos SemiBold" panose="020B0004020202020204" pitchFamily="34" charset="0"/>
                <a:ea typeface="Aptos" pitchFamily="34" charset="-122"/>
                <a:cs typeface="Aptos" pitchFamily="34" charset="-120"/>
              </a:rPr>
              <a:t>The Job Site Observation </a:t>
            </a:r>
            <a:endParaRPr lang="en-US" sz="2800" b="1" dirty="0">
              <a:solidFill>
                <a:srgbClr val="3A4B5B"/>
              </a:solidFill>
              <a:latin typeface="Aptos SemiBold" panose="020B00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38912"/>
            <a:ext cx="10972800" cy="777240"/>
          </a:xfrm>
          <a:prstGeom prst="rect">
            <a:avLst/>
          </a:prstGeom>
          <a:noFill/>
          <a:ln/>
        </p:spPr>
        <p:txBody>
          <a:bodyPr wrap="square" lIns="0" tIns="0" rIns="0" bIns="0" rtlCol="0" anchor="t"/>
          <a:lstStyle/>
          <a:p>
            <a:pPr marL="0" indent="0">
              <a:buNone/>
            </a:pPr>
            <a:r>
              <a:rPr lang="en-US" sz="4800" dirty="0">
                <a:solidFill>
                  <a:srgbClr val="3A4B5B"/>
                </a:solidFill>
                <a:latin typeface="Aptos Light" pitchFamily="34" charset="0"/>
                <a:ea typeface="Aptos Light" pitchFamily="34" charset="-122"/>
                <a:cs typeface="Aptos Light" pitchFamily="34" charset="-120"/>
              </a:rPr>
              <a:t>Getting Started This Week</a:t>
            </a:r>
            <a:endParaRPr lang="en-US" sz="4800" dirty="0"/>
          </a:p>
        </p:txBody>
      </p:sp>
      <p:sp>
        <p:nvSpPr>
          <p:cNvPr id="3" name="Text 1"/>
          <p:cNvSpPr/>
          <p:nvPr/>
        </p:nvSpPr>
        <p:spPr>
          <a:xfrm>
            <a:off x="640080" y="1554480"/>
            <a:ext cx="10972800" cy="365760"/>
          </a:xfrm>
          <a:prstGeom prst="rect">
            <a:avLst/>
          </a:prstGeom>
          <a:noFill/>
          <a:ln/>
        </p:spPr>
        <p:txBody>
          <a:bodyPr wrap="square" lIns="0" tIns="0" rIns="0" bIns="0" rtlCol="0" anchor="ctr"/>
          <a:lstStyle/>
          <a:p>
            <a:pPr marL="536575" indent="-536575">
              <a:buSzPct val="70000"/>
              <a:buBlip>
                <a:blip r:embed="rId3">
                  <a:extLst>
                    <a:ext uri="{96DAC541-7B7A-43D3-8B79-37D633B846F1}">
                      <asvg:svgBlip xmlns:asvg="http://schemas.microsoft.com/office/drawing/2016/SVG/main" r:embed="rId4"/>
                    </a:ext>
                  </a:extLst>
                </a:blip>
              </a:buBlip>
            </a:pPr>
            <a:r>
              <a:rPr lang="en-US" sz="2400" dirty="0">
                <a:solidFill>
                  <a:srgbClr val="6A7A88"/>
                </a:solidFill>
                <a:latin typeface="Aptos" pitchFamily="34" charset="0"/>
                <a:ea typeface="Aptos" pitchFamily="34" charset="-122"/>
                <a:cs typeface="Aptos" pitchFamily="34" charset="-120"/>
              </a:rPr>
              <a:t>Three steps. Five minutes.</a:t>
            </a:r>
            <a:endParaRPr lang="en-US" sz="2400" dirty="0"/>
          </a:p>
        </p:txBody>
      </p:sp>
      <p:sp>
        <p:nvSpPr>
          <p:cNvPr id="4" name="Shape 2"/>
          <p:cNvSpPr/>
          <p:nvPr/>
        </p:nvSpPr>
        <p:spPr>
          <a:xfrm>
            <a:off x="640080" y="2148840"/>
            <a:ext cx="3383280" cy="2788920"/>
          </a:xfrm>
          <a:prstGeom prst="roundRect">
            <a:avLst>
              <a:gd name="adj" fmla="val 1967"/>
            </a:avLst>
          </a:prstGeom>
          <a:solidFill>
            <a:srgbClr val="EEF1F3"/>
          </a:solidFill>
          <a:ln w="9525">
            <a:solidFill>
              <a:srgbClr val="E1E5E8"/>
            </a:solidFill>
            <a:prstDash val="solid"/>
          </a:ln>
          <a:effectLst/>
        </p:spPr>
        <p:txBody>
          <a:bodyPr/>
          <a:lstStyle/>
          <a:p>
            <a:endParaRPr lang="en-US"/>
          </a:p>
        </p:txBody>
      </p:sp>
      <p:sp>
        <p:nvSpPr>
          <p:cNvPr id="6" name="Text 4"/>
          <p:cNvSpPr/>
          <p:nvPr/>
        </p:nvSpPr>
        <p:spPr>
          <a:xfrm>
            <a:off x="425707" y="2221992"/>
            <a:ext cx="1121212" cy="1069848"/>
          </a:xfrm>
          <a:prstGeom prst="rect">
            <a:avLst/>
          </a:prstGeom>
          <a:noFill/>
          <a:ln/>
        </p:spPr>
        <p:txBody>
          <a:bodyPr wrap="square" lIns="0" tIns="0" rIns="0" bIns="0" rtlCol="0" anchor="ctr"/>
          <a:lstStyle/>
          <a:p>
            <a:pPr marL="0" indent="0" algn="ctr">
              <a:buNone/>
            </a:pPr>
            <a:r>
              <a:rPr lang="en-US" sz="15000" b="1" dirty="0">
                <a:solidFill>
                  <a:srgbClr val="FEB100"/>
                </a:solidFill>
                <a:latin typeface="Aptos" pitchFamily="34" charset="0"/>
                <a:ea typeface="Aptos" pitchFamily="34" charset="-122"/>
                <a:cs typeface="Aptos" pitchFamily="34" charset="-120"/>
              </a:rPr>
              <a:t>1</a:t>
            </a:r>
            <a:endParaRPr lang="en-US" sz="15000" dirty="0"/>
          </a:p>
        </p:txBody>
      </p:sp>
      <p:sp>
        <p:nvSpPr>
          <p:cNvPr id="7" name="Text 5"/>
          <p:cNvSpPr/>
          <p:nvPr/>
        </p:nvSpPr>
        <p:spPr>
          <a:xfrm>
            <a:off x="1706432" y="2539942"/>
            <a:ext cx="2357343" cy="640080"/>
          </a:xfrm>
          <a:prstGeom prst="rect">
            <a:avLst/>
          </a:prstGeom>
          <a:noFill/>
          <a:ln/>
        </p:spPr>
        <p:txBody>
          <a:bodyPr wrap="square" lIns="0" tIns="0" rIns="0" bIns="0" rtlCol="0" anchor="t"/>
          <a:lstStyle/>
          <a:p>
            <a:pPr marL="0" indent="0">
              <a:buNone/>
            </a:pPr>
            <a:r>
              <a:rPr lang="en-US" sz="1800" b="1" dirty="0">
                <a:solidFill>
                  <a:srgbClr val="3A4B5B"/>
                </a:solidFill>
                <a:latin typeface="Aptos" pitchFamily="34" charset="0"/>
                <a:ea typeface="Aptos" pitchFamily="34" charset="-122"/>
                <a:cs typeface="Aptos" pitchFamily="34" charset="-120"/>
              </a:rPr>
              <a:t>Follow the team</a:t>
            </a:r>
            <a:endParaRPr lang="en-US" sz="1800" dirty="0"/>
          </a:p>
        </p:txBody>
      </p:sp>
      <p:sp>
        <p:nvSpPr>
          <p:cNvPr id="8" name="Text 6"/>
          <p:cNvSpPr/>
          <p:nvPr/>
        </p:nvSpPr>
        <p:spPr>
          <a:xfrm>
            <a:off x="914400" y="3886200"/>
            <a:ext cx="2834640" cy="1005840"/>
          </a:xfrm>
          <a:prstGeom prst="rect">
            <a:avLst/>
          </a:prstGeom>
          <a:noFill/>
          <a:ln/>
        </p:spPr>
        <p:txBody>
          <a:bodyPr wrap="square" lIns="0" tIns="0" rIns="0" bIns="0" rtlCol="0" anchor="t"/>
          <a:lstStyle/>
          <a:p>
            <a:pPr marL="0" indent="0">
              <a:buNone/>
            </a:pPr>
            <a:r>
              <a:rPr lang="en-US">
                <a:solidFill>
                  <a:srgbClr val="222B33"/>
                </a:solidFill>
                <a:latin typeface="Aptos" pitchFamily="34" charset="0"/>
                <a:ea typeface="Aptos" pitchFamily="34" charset="-122"/>
                <a:cs typeface="Aptos" pitchFamily="34" charset="-120"/>
              </a:rPr>
              <a:t>Connect with Dave and your colleagues so you see their posts.</a:t>
            </a:r>
            <a:endParaRPr lang="en-US"/>
          </a:p>
        </p:txBody>
      </p:sp>
      <p:sp>
        <p:nvSpPr>
          <p:cNvPr id="9" name="Shape 7"/>
          <p:cNvSpPr/>
          <p:nvPr/>
        </p:nvSpPr>
        <p:spPr>
          <a:xfrm>
            <a:off x="4297680" y="2148840"/>
            <a:ext cx="3383280" cy="2788920"/>
          </a:xfrm>
          <a:prstGeom prst="roundRect">
            <a:avLst>
              <a:gd name="adj" fmla="val 1967"/>
            </a:avLst>
          </a:prstGeom>
          <a:solidFill>
            <a:srgbClr val="EEF1F3"/>
          </a:solidFill>
          <a:ln w="9525">
            <a:solidFill>
              <a:srgbClr val="E1E5E8"/>
            </a:solidFill>
            <a:prstDash val="solid"/>
          </a:ln>
          <a:effectLst/>
        </p:spPr>
        <p:txBody>
          <a:bodyPr/>
          <a:lstStyle/>
          <a:p>
            <a:endParaRPr lang="en-US"/>
          </a:p>
        </p:txBody>
      </p:sp>
      <p:sp>
        <p:nvSpPr>
          <p:cNvPr id="12" name="Text 10"/>
          <p:cNvSpPr/>
          <p:nvPr/>
        </p:nvSpPr>
        <p:spPr>
          <a:xfrm>
            <a:off x="5611553" y="2539942"/>
            <a:ext cx="2266356" cy="640080"/>
          </a:xfrm>
          <a:prstGeom prst="rect">
            <a:avLst/>
          </a:prstGeom>
          <a:noFill/>
          <a:ln/>
        </p:spPr>
        <p:txBody>
          <a:bodyPr wrap="square" lIns="0" tIns="0" rIns="0" bIns="0" rtlCol="0" anchor="t"/>
          <a:lstStyle/>
          <a:p>
            <a:pPr marL="0" indent="0">
              <a:buNone/>
            </a:pPr>
            <a:r>
              <a:rPr lang="en-US" sz="1800" b="1" dirty="0">
                <a:solidFill>
                  <a:srgbClr val="3A4B5B"/>
                </a:solidFill>
                <a:latin typeface="Aptos" pitchFamily="34" charset="0"/>
                <a:ea typeface="Aptos" pitchFamily="34" charset="-122"/>
                <a:cs typeface="Aptos" pitchFamily="34" charset="-120"/>
              </a:rPr>
              <a:t>Turn on post notifications</a:t>
            </a:r>
            <a:endParaRPr lang="en-US" sz="1800" dirty="0"/>
          </a:p>
        </p:txBody>
      </p:sp>
      <p:sp>
        <p:nvSpPr>
          <p:cNvPr id="13" name="Text 11"/>
          <p:cNvSpPr/>
          <p:nvPr/>
        </p:nvSpPr>
        <p:spPr>
          <a:xfrm>
            <a:off x="4572000" y="3886200"/>
            <a:ext cx="2834640" cy="1005840"/>
          </a:xfrm>
          <a:prstGeom prst="rect">
            <a:avLst/>
          </a:prstGeom>
          <a:noFill/>
          <a:ln/>
        </p:spPr>
        <p:txBody>
          <a:bodyPr wrap="square" lIns="0" tIns="0" rIns="0" bIns="0" rtlCol="0" anchor="t"/>
          <a:lstStyle/>
          <a:p>
            <a:pPr marL="0" indent="0">
              <a:buNone/>
            </a:pPr>
            <a:r>
              <a:rPr lang="en-US">
                <a:solidFill>
                  <a:srgbClr val="222B33"/>
                </a:solidFill>
                <a:latin typeface="Aptos" pitchFamily="34" charset="0"/>
                <a:ea typeface="Aptos" pitchFamily="34" charset="-122"/>
                <a:cs typeface="Aptos" pitchFamily="34" charset="-120"/>
              </a:rPr>
              <a:t>So you catch the first hour. Or watch for the team-channel ping.</a:t>
            </a:r>
            <a:endParaRPr lang="en-US"/>
          </a:p>
        </p:txBody>
      </p:sp>
      <p:sp>
        <p:nvSpPr>
          <p:cNvPr id="14" name="Shape 12"/>
          <p:cNvSpPr/>
          <p:nvPr/>
        </p:nvSpPr>
        <p:spPr>
          <a:xfrm>
            <a:off x="7955280" y="2148840"/>
            <a:ext cx="3383280" cy="2788920"/>
          </a:xfrm>
          <a:prstGeom prst="roundRect">
            <a:avLst>
              <a:gd name="adj" fmla="val 1967"/>
            </a:avLst>
          </a:prstGeom>
          <a:solidFill>
            <a:srgbClr val="EEF1F3"/>
          </a:solidFill>
          <a:ln w="9525">
            <a:solidFill>
              <a:srgbClr val="E1E5E8"/>
            </a:solidFill>
            <a:prstDash val="solid"/>
          </a:ln>
          <a:effectLst/>
        </p:spPr>
        <p:txBody>
          <a:bodyPr/>
          <a:lstStyle/>
          <a:p>
            <a:endParaRPr lang="en-US"/>
          </a:p>
        </p:txBody>
      </p:sp>
      <p:sp>
        <p:nvSpPr>
          <p:cNvPr id="17" name="Text 15"/>
          <p:cNvSpPr/>
          <p:nvPr/>
        </p:nvSpPr>
        <p:spPr>
          <a:xfrm>
            <a:off x="9135756" y="2539942"/>
            <a:ext cx="2773006" cy="640080"/>
          </a:xfrm>
          <a:prstGeom prst="rect">
            <a:avLst/>
          </a:prstGeom>
          <a:noFill/>
          <a:ln/>
        </p:spPr>
        <p:txBody>
          <a:bodyPr wrap="square" lIns="0" tIns="0" rIns="0" bIns="0" rtlCol="0" anchor="t"/>
          <a:lstStyle/>
          <a:p>
            <a:pPr marL="0" indent="0">
              <a:buNone/>
            </a:pPr>
            <a:r>
              <a:rPr lang="en-US" sz="1800" b="1" dirty="0">
                <a:solidFill>
                  <a:srgbClr val="3A4B5B"/>
                </a:solidFill>
                <a:latin typeface="Aptos" pitchFamily="34" charset="0"/>
                <a:ea typeface="Aptos" pitchFamily="34" charset="-122"/>
                <a:cs typeface="Aptos" pitchFamily="34" charset="-120"/>
              </a:rPr>
              <a:t>Comment on the </a:t>
            </a:r>
          </a:p>
          <a:p>
            <a:pPr marL="0" indent="0">
              <a:buNone/>
            </a:pPr>
            <a:r>
              <a:rPr lang="en-US" sz="1800" b="1" dirty="0">
                <a:solidFill>
                  <a:srgbClr val="3A4B5B"/>
                </a:solidFill>
                <a:latin typeface="Aptos" pitchFamily="34" charset="0"/>
                <a:ea typeface="Aptos" pitchFamily="34" charset="-122"/>
                <a:cs typeface="Aptos" pitchFamily="34" charset="-120"/>
              </a:rPr>
              <a:t>next post</a:t>
            </a:r>
            <a:endParaRPr lang="en-US" sz="1800" dirty="0"/>
          </a:p>
        </p:txBody>
      </p:sp>
      <p:sp>
        <p:nvSpPr>
          <p:cNvPr id="18" name="Text 16"/>
          <p:cNvSpPr/>
          <p:nvPr/>
        </p:nvSpPr>
        <p:spPr>
          <a:xfrm>
            <a:off x="8229600" y="3886200"/>
            <a:ext cx="2834640" cy="1005840"/>
          </a:xfrm>
          <a:prstGeom prst="rect">
            <a:avLst/>
          </a:prstGeom>
          <a:noFill/>
          <a:ln/>
        </p:spPr>
        <p:txBody>
          <a:bodyPr wrap="square" lIns="0" tIns="0" rIns="0" bIns="0" rtlCol="0" anchor="t"/>
          <a:lstStyle/>
          <a:p>
            <a:pPr marL="0" indent="0">
              <a:buNone/>
            </a:pPr>
            <a:r>
              <a:rPr lang="en-US">
                <a:solidFill>
                  <a:srgbClr val="222B33"/>
                </a:solidFill>
                <a:latin typeface="Aptos" pitchFamily="34" charset="0"/>
                <a:ea typeface="Aptos" pitchFamily="34" charset="-122"/>
                <a:cs typeface="Aptos" pitchFamily="34" charset="-120"/>
              </a:rPr>
              <a:t>One real sentence. That's your first win, today.</a:t>
            </a:r>
            <a:endParaRPr lang="en-US"/>
          </a:p>
        </p:txBody>
      </p:sp>
      <p:sp>
        <p:nvSpPr>
          <p:cNvPr id="19" name="Text 17"/>
          <p:cNvSpPr/>
          <p:nvPr/>
        </p:nvSpPr>
        <p:spPr>
          <a:xfrm>
            <a:off x="640080" y="5212080"/>
            <a:ext cx="10972800" cy="457200"/>
          </a:xfrm>
          <a:prstGeom prst="rect">
            <a:avLst/>
          </a:prstGeom>
          <a:noFill/>
          <a:ln/>
        </p:spPr>
        <p:txBody>
          <a:bodyPr wrap="square" lIns="0" tIns="0" rIns="0" bIns="0" rtlCol="0" anchor="ctr"/>
          <a:lstStyle/>
          <a:p>
            <a:pPr marL="0" indent="0" algn="ctr">
              <a:buNone/>
            </a:pPr>
            <a:r>
              <a:rPr lang="en-US" sz="2000" dirty="0">
                <a:solidFill>
                  <a:srgbClr val="6A7A88"/>
                </a:solidFill>
                <a:latin typeface="Aptos" pitchFamily="34" charset="0"/>
                <a:ea typeface="Aptos" pitchFamily="34" charset="-122"/>
                <a:cs typeface="Aptos" pitchFamily="34" charset="-120"/>
              </a:rPr>
              <a:t>Questions, or want a draft? The social team has you. Reach out to Carlie anytime.</a:t>
            </a:r>
            <a:endParaRPr lang="en-US" sz="2000" dirty="0"/>
          </a:p>
        </p:txBody>
      </p:sp>
      <p:pic>
        <p:nvPicPr>
          <p:cNvPr id="20" name="Image 0" descr="tag_slate.png"/>
          <p:cNvPicPr>
            <a:picLocks noChangeAspect="1"/>
          </p:cNvPicPr>
          <p:nvPr/>
        </p:nvPicPr>
        <p:blipFill>
          <a:blip r:embed="rId5"/>
          <a:stretch>
            <a:fillRect/>
          </a:stretch>
        </p:blipFill>
        <p:spPr>
          <a:xfrm>
            <a:off x="10225735" y="6291072"/>
            <a:ext cx="1325880" cy="292754"/>
          </a:xfrm>
          <a:prstGeom prst="rect">
            <a:avLst/>
          </a:prstGeom>
        </p:spPr>
      </p:pic>
      <p:sp>
        <p:nvSpPr>
          <p:cNvPr id="21" name="Text 4">
            <a:extLst>
              <a:ext uri="{FF2B5EF4-FFF2-40B4-BE49-F238E27FC236}">
                <a16:creationId xmlns:a16="http://schemas.microsoft.com/office/drawing/2014/main" id="{F0ADE573-DF40-6BA6-9773-A2AA81C1A821}"/>
              </a:ext>
            </a:extLst>
          </p:cNvPr>
          <p:cNvSpPr/>
          <p:nvPr/>
        </p:nvSpPr>
        <p:spPr>
          <a:xfrm>
            <a:off x="4190151" y="2239152"/>
            <a:ext cx="1121212" cy="1069848"/>
          </a:xfrm>
          <a:prstGeom prst="rect">
            <a:avLst/>
          </a:prstGeom>
          <a:noFill/>
          <a:ln/>
        </p:spPr>
        <p:txBody>
          <a:bodyPr wrap="square" lIns="0" tIns="0" rIns="0" bIns="0" rtlCol="0" anchor="ctr"/>
          <a:lstStyle/>
          <a:p>
            <a:pPr marL="0" indent="0" algn="ctr">
              <a:buNone/>
            </a:pPr>
            <a:r>
              <a:rPr lang="en-US" sz="15000" b="1" dirty="0">
                <a:solidFill>
                  <a:srgbClr val="FEB100"/>
                </a:solidFill>
                <a:latin typeface="Aptos" pitchFamily="34" charset="0"/>
                <a:ea typeface="Aptos" pitchFamily="34" charset="-122"/>
                <a:cs typeface="Aptos" pitchFamily="34" charset="-120"/>
              </a:rPr>
              <a:t>2</a:t>
            </a:r>
            <a:endParaRPr lang="en-US" sz="15000" dirty="0"/>
          </a:p>
        </p:txBody>
      </p:sp>
      <p:sp>
        <p:nvSpPr>
          <p:cNvPr id="22" name="Text 4">
            <a:extLst>
              <a:ext uri="{FF2B5EF4-FFF2-40B4-BE49-F238E27FC236}">
                <a16:creationId xmlns:a16="http://schemas.microsoft.com/office/drawing/2014/main" id="{1AE88FB7-13D8-3EC5-D481-21B075BEFDE5}"/>
              </a:ext>
            </a:extLst>
          </p:cNvPr>
          <p:cNvSpPr/>
          <p:nvPr/>
        </p:nvSpPr>
        <p:spPr>
          <a:xfrm>
            <a:off x="7847752" y="2239152"/>
            <a:ext cx="1121212" cy="1069848"/>
          </a:xfrm>
          <a:prstGeom prst="rect">
            <a:avLst/>
          </a:prstGeom>
          <a:noFill/>
          <a:ln/>
        </p:spPr>
        <p:txBody>
          <a:bodyPr wrap="square" lIns="0" tIns="0" rIns="0" bIns="0" rtlCol="0" anchor="ctr"/>
          <a:lstStyle/>
          <a:p>
            <a:pPr marL="0" indent="0" algn="ctr">
              <a:buNone/>
            </a:pPr>
            <a:r>
              <a:rPr lang="en-US" sz="15000" b="1" dirty="0">
                <a:solidFill>
                  <a:srgbClr val="FEB100"/>
                </a:solidFill>
                <a:latin typeface="Aptos" pitchFamily="34" charset="0"/>
                <a:ea typeface="Aptos" pitchFamily="34" charset="-122"/>
                <a:cs typeface="Aptos" pitchFamily="34" charset="-120"/>
              </a:rPr>
              <a:t>3</a:t>
            </a:r>
            <a:endParaRPr lang="en-US" sz="15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3A4B5B"/>
        </a:solidFill>
        <a:effectLst/>
      </p:bgPr>
    </p:bg>
    <p:spTree>
      <p:nvGrpSpPr>
        <p:cNvPr id="1" name=""/>
        <p:cNvGrpSpPr/>
        <p:nvPr/>
      </p:nvGrpSpPr>
      <p:grpSpPr>
        <a:xfrm>
          <a:off x="0" y="0"/>
          <a:ext cx="0" cy="0"/>
          <a:chOff x="0" y="0"/>
          <a:chExt cx="0" cy="0"/>
        </a:xfrm>
      </p:grpSpPr>
      <p:pic>
        <p:nvPicPr>
          <p:cNvPr id="2" name="Image 0" descr="tag_white.png"/>
          <p:cNvPicPr>
            <a:picLocks noChangeAspect="1"/>
          </p:cNvPicPr>
          <p:nvPr/>
        </p:nvPicPr>
        <p:blipFill>
          <a:blip r:embed="rId3"/>
          <a:stretch>
            <a:fillRect/>
          </a:stretch>
        </p:blipFill>
        <p:spPr>
          <a:xfrm>
            <a:off x="640080" y="685800"/>
            <a:ext cx="3204578" cy="707571"/>
          </a:xfrm>
          <a:prstGeom prst="rect">
            <a:avLst/>
          </a:prstGeom>
        </p:spPr>
      </p:pic>
      <p:sp>
        <p:nvSpPr>
          <p:cNvPr id="3" name="Text 0"/>
          <p:cNvSpPr/>
          <p:nvPr/>
        </p:nvSpPr>
        <p:spPr>
          <a:xfrm>
            <a:off x="640080" y="2743200"/>
            <a:ext cx="10972800" cy="173736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Aptos" pitchFamily="34" charset="0"/>
                <a:ea typeface="Aptos" pitchFamily="34" charset="-122"/>
                <a:cs typeface="Aptos" pitchFamily="34" charset="-120"/>
              </a:rPr>
              <a:t>Two Minutes, the Right Network</a:t>
            </a:r>
            <a:endParaRPr lang="en-US" sz="3800" dirty="0"/>
          </a:p>
          <a:p>
            <a:pPr marL="0" indent="0">
              <a:lnSpc>
                <a:spcPct val="105000"/>
              </a:lnSpc>
              <a:buNone/>
            </a:pPr>
            <a:r>
              <a:rPr lang="en-US" sz="3800" b="1" dirty="0">
                <a:solidFill>
                  <a:srgbClr val="FEB100"/>
                </a:solidFill>
                <a:latin typeface="Aptos" pitchFamily="34" charset="0"/>
                <a:ea typeface="Aptos" pitchFamily="34" charset="-122"/>
                <a:cs typeface="Aptos" pitchFamily="34" charset="-120"/>
              </a:rPr>
              <a:t>That's the Whole Ask</a:t>
            </a:r>
            <a:endParaRPr lang="en-US" sz="3800" dirty="0"/>
          </a:p>
        </p:txBody>
      </p:sp>
      <p:sp>
        <p:nvSpPr>
          <p:cNvPr id="4" name="Text 1"/>
          <p:cNvSpPr/>
          <p:nvPr/>
        </p:nvSpPr>
        <p:spPr>
          <a:xfrm>
            <a:off x="640080" y="4709160"/>
            <a:ext cx="10972800" cy="457200"/>
          </a:xfrm>
          <a:prstGeom prst="rect">
            <a:avLst/>
          </a:prstGeom>
          <a:noFill/>
          <a:ln/>
        </p:spPr>
        <p:txBody>
          <a:bodyPr wrap="square" lIns="0" tIns="0" rIns="0" bIns="0" rtlCol="0" anchor="ctr"/>
          <a:lstStyle/>
          <a:p>
            <a:pPr marL="0" indent="0">
              <a:buNone/>
            </a:pPr>
            <a:r>
              <a:rPr lang="en-US" sz="1900">
                <a:solidFill>
                  <a:srgbClr val="DDE3E8"/>
                </a:solidFill>
                <a:latin typeface="Aptos" pitchFamily="34" charset="0"/>
                <a:ea typeface="Aptos" pitchFamily="34" charset="-122"/>
                <a:cs typeface="Aptos" pitchFamily="34" charset="-120"/>
              </a:rPr>
              <a:t>You already built the audience. Let's go use it.</a:t>
            </a:r>
            <a:endParaRPr lang="en-US" sz="1900"/>
          </a:p>
        </p:txBody>
      </p:sp>
      <p:pic>
        <p:nvPicPr>
          <p:cNvPr id="5" name="Image 1" descr="mono_white.png"/>
          <p:cNvPicPr>
            <a:picLocks noChangeAspect="1"/>
          </p:cNvPicPr>
          <p:nvPr/>
        </p:nvPicPr>
        <p:blipFill>
          <a:blip r:embed="rId4"/>
          <a:stretch>
            <a:fillRect/>
          </a:stretch>
        </p:blipFill>
        <p:spPr>
          <a:xfrm>
            <a:off x="10291565" y="5394960"/>
            <a:ext cx="1260050" cy="9973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TotalTime>
  <Words>863</Words>
  <Application>Microsoft Macintosh PowerPoint</Application>
  <PresentationFormat>Widescreen</PresentationFormat>
  <Paragraphs>100</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Light</vt:lpstr>
      <vt:lpstr>Aptos SemiBold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Trusscore on LinkedIn — Sales Team</dc:title>
  <dc:subject>PptxGenJS Presentation</dc:subject>
  <dc:creator>Trusscore Brand &amp; Events</dc:creator>
  <cp:lastModifiedBy>Melanie Landry</cp:lastModifiedBy>
  <cp:revision>3</cp:revision>
  <dcterms:created xsi:type="dcterms:W3CDTF">2026-06-22T13:27:11Z</dcterms:created>
  <dcterms:modified xsi:type="dcterms:W3CDTF">2026-07-08T00:58:25Z</dcterms:modified>
</cp:coreProperties>
</file>